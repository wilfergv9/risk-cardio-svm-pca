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Calibri (MS)" charset="1" panose="020F0502020204030204"/>
      <p:regular r:id="rId36"/>
    </p:embeddedFont>
    <p:embeddedFont>
      <p:font typeface="Trebuchet MS" charset="1" panose="020B0603020202020204"/>
      <p:regular r:id="rId37"/>
    </p:embeddedFont>
    <p:embeddedFont>
      <p:font typeface="Trebuchet MS Bold" charset="1" panose="020B0703020202020204"/>
      <p:regular r:id="rId38"/>
    </p:embeddedFont>
    <p:embeddedFont>
      <p:font typeface="Calibri (MS) Italics" charset="1" panose="020F05020202040A0204"/>
      <p:regular r:id="rId39"/>
    </p:embeddedFont>
    <p:embeddedFont>
      <p:font typeface="Consolas" charset="1" panose="020B0609020204030204"/>
      <p:regular r:id="rId55"/>
    </p:embeddedFont>
    <p:embeddedFont>
      <p:font typeface="Calibri (MS) Bold" charset="1" panose="020F0702030404030204"/>
      <p:regular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notesMasters/notesMaster1.xml" Type="http://schemas.openxmlformats.org/officeDocument/2006/relationships/notesMaster"/><Relationship Id="rId34" Target="theme/theme2.xml" Type="http://schemas.openxmlformats.org/officeDocument/2006/relationships/theme"/><Relationship Id="rId35" Target="notesSlides/notesSlide1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2.xml" Type="http://schemas.openxmlformats.org/officeDocument/2006/relationships/notesSlide"/><Relationship Id="rId41" Target="notesSlides/notesSlide3.xml" Type="http://schemas.openxmlformats.org/officeDocument/2006/relationships/notesSlide"/><Relationship Id="rId42" Target="notesSlides/notesSlide4.xml" Type="http://schemas.openxmlformats.org/officeDocument/2006/relationships/notesSlide"/><Relationship Id="rId43" Target="notesSlides/notesSlide5.xml" Type="http://schemas.openxmlformats.org/officeDocument/2006/relationships/notesSlide"/><Relationship Id="rId44" Target="notesSlides/notesSlide6.xml" Type="http://schemas.openxmlformats.org/officeDocument/2006/relationships/notesSlide"/><Relationship Id="rId45" Target="notesSlides/notesSlide7.xml" Type="http://schemas.openxmlformats.org/officeDocument/2006/relationships/notesSlide"/><Relationship Id="rId46" Target="notesSlides/notesSlide8.xml" Type="http://schemas.openxmlformats.org/officeDocument/2006/relationships/notesSlide"/><Relationship Id="rId47" Target="notesSlides/notesSlide9.xml" Type="http://schemas.openxmlformats.org/officeDocument/2006/relationships/notesSlide"/><Relationship Id="rId48" Target="notesSlides/notesSlide10.xml" Type="http://schemas.openxmlformats.org/officeDocument/2006/relationships/notesSlide"/><Relationship Id="rId49" Target="notesSlides/notesSlide11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2.xml" Type="http://schemas.openxmlformats.org/officeDocument/2006/relationships/notesSlide"/><Relationship Id="rId51" Target="notesSlides/notesSlide13.xml" Type="http://schemas.openxmlformats.org/officeDocument/2006/relationships/notesSlide"/><Relationship Id="rId52" Target="notesSlides/notesSlide14.xml" Type="http://schemas.openxmlformats.org/officeDocument/2006/relationships/notesSlide"/><Relationship Id="rId53" Target="notesSlides/notesSlide15.xml" Type="http://schemas.openxmlformats.org/officeDocument/2006/relationships/notesSlide"/><Relationship Id="rId54" Target="notesSlides/notesSlide16.xml" Type="http://schemas.openxmlformats.org/officeDocument/2006/relationships/notesSlide"/><Relationship Id="rId55" Target="fonts/font55.fntdata" Type="http://schemas.openxmlformats.org/officeDocument/2006/relationships/font"/><Relationship Id="rId56" Target="notesSlides/notesSlide17.xml" Type="http://schemas.openxmlformats.org/officeDocument/2006/relationships/notesSlide"/><Relationship Id="rId57" Target="notesSlides/notesSlide18.xml" Type="http://schemas.openxmlformats.org/officeDocument/2006/relationships/notesSlide"/><Relationship Id="rId58" Target="notesSlides/notesSlide19.xml" Type="http://schemas.openxmlformats.org/officeDocument/2006/relationships/notesSlide"/><Relationship Id="rId59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1.xml" Type="http://schemas.openxmlformats.org/officeDocument/2006/relationships/notesSlide"/><Relationship Id="rId61" Target="notesSlides/notesSlide22.xml" Type="http://schemas.openxmlformats.org/officeDocument/2006/relationships/notesSlide"/><Relationship Id="rId62" Target="notesSlides/notesSlide23.xml" Type="http://schemas.openxmlformats.org/officeDocument/2006/relationships/notesSlide"/><Relationship Id="rId63" Target="notesSlides/notesSlide24.xml" Type="http://schemas.openxmlformats.org/officeDocument/2006/relationships/notesSlide"/><Relationship Id="rId64" Target="notesSlides/notesSlide25.xml" Type="http://schemas.openxmlformats.org/officeDocument/2006/relationships/notesSlide"/><Relationship Id="rId65" Target="notesSlides/notesSlide26.xml" Type="http://schemas.openxmlformats.org/officeDocument/2006/relationships/notesSlide"/><Relationship Id="rId66" Target="fonts/font66.fntdata" Type="http://schemas.openxmlformats.org/officeDocument/2006/relationships/font"/><Relationship Id="rId67" Target="notesSlides/notesSlide27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607040" y="548640"/>
            <a:ext cx="7315200" cy="8229600"/>
            <a:chOff x="0" y="0"/>
            <a:chExt cx="97536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0"/>
                  </a:lnTo>
                  <a:lnTo>
                    <a:pt x="0" y="10972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341" t="0" r="-94341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23925"/>
              <a:ext cx="9753600" cy="1189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0"/>
                </a:lnSpc>
              </a:pPr>
              <a:r>
                <a:rPr lang="en-US" sz="440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280160"/>
            <a:ext cx="12801600" cy="1005840"/>
            <a:chOff x="0" y="0"/>
            <a:chExt cx="17068800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spc="800">
                  <a:solidFill>
                    <a:srgbClr val="90CDF4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DETECCIÓN 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194560"/>
            <a:ext cx="13716000" cy="3291840"/>
            <a:chOff x="0" y="0"/>
            <a:chExt cx="18288000" cy="4389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8288000" cy="4389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ENFERMEDAD</a:t>
              </a:r>
            </a:p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CARDÍACA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1520" y="5486400"/>
            <a:ext cx="11887200" cy="822960"/>
            <a:chOff x="0" y="0"/>
            <a:chExt cx="1584960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49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5849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E74C3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Heart Disease UCI Dataset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1520" y="6492240"/>
            <a:ext cx="11887200" cy="548640"/>
            <a:chOff x="0" y="0"/>
            <a:chExt cx="15849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849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Tercer Parcial — Inteligencia Artificial 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7095744"/>
            <a:ext cx="11887200" cy="512064"/>
            <a:chOff x="0" y="0"/>
            <a:chExt cx="1584960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4960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331" r="0" b="-40233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5849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Universidad Industrial de Santander · Grupo E1 · 2026-1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31520" y="7644384"/>
            <a:ext cx="11887200" cy="512064"/>
            <a:chOff x="0" y="0"/>
            <a:chExt cx="1584960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849600" cy="682752"/>
            </a:xfrm>
            <a:custGeom>
              <a:avLst/>
              <a:gdLst/>
              <a:ahLst/>
              <a:cxnLst/>
              <a:rect r="r" b="b" t="t" l="l"/>
              <a:pathLst>
                <a:path h="682752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331" r="0" b="-40233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849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Profesora: Alejandra Moreno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1520" y="8686800"/>
            <a:ext cx="3657600" cy="1280160"/>
            <a:chOff x="0" y="0"/>
            <a:chExt cx="4876800" cy="1706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76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31520" y="8723376"/>
            <a:ext cx="3657600" cy="666378"/>
            <a:chOff x="0" y="0"/>
            <a:chExt cx="4876800" cy="8885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76800" cy="888504"/>
            </a:xfrm>
            <a:custGeom>
              <a:avLst/>
              <a:gdLst/>
              <a:ahLst/>
              <a:cxnLst/>
              <a:rect r="r" b="b" t="t" l="l"/>
              <a:pathLst>
                <a:path h="88850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88504"/>
                  </a:lnTo>
                  <a:lnTo>
                    <a:pt x="0" y="888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2" r="0" b="-549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876800" cy="907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E74C3C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302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31520" y="9363456"/>
            <a:ext cx="3657600" cy="512064"/>
            <a:chOff x="0" y="0"/>
            <a:chExt cx="487680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76800" cy="682752"/>
            </a:xfrm>
            <a:custGeom>
              <a:avLst/>
              <a:gdLst/>
              <a:ahLst/>
              <a:cxnLst/>
              <a:rect r="r" b="b" t="t" l="l"/>
              <a:pathLst>
                <a:path h="6827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29200" y="8686800"/>
            <a:ext cx="3657600" cy="1280160"/>
            <a:chOff x="0" y="0"/>
            <a:chExt cx="4876800" cy="1706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76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029200" y="8723376"/>
            <a:ext cx="3657600" cy="640080"/>
            <a:chOff x="0" y="0"/>
            <a:chExt cx="4876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8768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E74C3C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13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029200" y="9363456"/>
            <a:ext cx="3657600" cy="512064"/>
            <a:chOff x="0" y="0"/>
            <a:chExt cx="487680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76800" cy="682752"/>
            </a:xfrm>
            <a:custGeom>
              <a:avLst/>
              <a:gdLst/>
              <a:ahLst/>
              <a:cxnLst/>
              <a:rect r="r" b="b" t="t" l="l"/>
              <a:pathLst>
                <a:path h="6827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26880" y="8686800"/>
            <a:ext cx="3657600" cy="1280160"/>
            <a:chOff x="0" y="0"/>
            <a:chExt cx="4876800" cy="1706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76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326880" y="8723376"/>
            <a:ext cx="3657600" cy="640080"/>
            <a:chOff x="0" y="0"/>
            <a:chExt cx="487680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8768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E74C3C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26880" y="9363456"/>
            <a:ext cx="3657600" cy="512064"/>
            <a:chOff x="0" y="0"/>
            <a:chExt cx="487680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76800" cy="682752"/>
            </a:xfrm>
            <a:custGeom>
              <a:avLst/>
              <a:gdLst/>
              <a:ahLst/>
              <a:cxnLst/>
              <a:rect r="r" b="b" t="t" l="l"/>
              <a:pathLst>
                <a:path h="6827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624560" y="8686800"/>
            <a:ext cx="3657600" cy="1280160"/>
            <a:chOff x="0" y="0"/>
            <a:chExt cx="4876800" cy="1706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76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624560" y="8723376"/>
            <a:ext cx="3657600" cy="640080"/>
            <a:chOff x="0" y="0"/>
            <a:chExt cx="487680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76800" cy="853440"/>
            </a:xfrm>
            <a:custGeom>
              <a:avLst/>
              <a:gdLst/>
              <a:ahLst/>
              <a:cxnLst/>
              <a:rect r="r" b="b" t="t" l="l"/>
              <a:pathLst>
                <a:path h="853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48768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E74C3C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54%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624560" y="9363456"/>
            <a:ext cx="3657600" cy="512064"/>
            <a:chOff x="0" y="0"/>
            <a:chExt cx="4876800" cy="6827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76800" cy="682752"/>
            </a:xfrm>
            <a:custGeom>
              <a:avLst/>
              <a:gdLst/>
              <a:ahLst/>
              <a:cxnLst/>
              <a:rect r="r" b="b" t="t" l="l"/>
              <a:pathLst>
                <a:path h="6827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876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 enfermedad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31520" y="8156448"/>
            <a:ext cx="11887200" cy="775208"/>
            <a:chOff x="0" y="0"/>
            <a:chExt cx="15849600" cy="103361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849600" cy="1033611"/>
            </a:xfrm>
            <a:custGeom>
              <a:avLst/>
              <a:gdLst/>
              <a:ahLst/>
              <a:cxnLst/>
              <a:rect r="r" b="b" t="t" l="l"/>
              <a:pathLst>
                <a:path h="1033611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759" r="0" b="-23181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5849600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</a:t>
              </a:r>
              <a:r>
                <a:rPr lang="en-US" sz="22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exy Lorena Sandoval Merchan — Wilmer Ferney Gómez Vargas </a:t>
              </a:r>
            </a:p>
            <a:p>
              <a:pPr algn="l">
                <a:lnSpc>
                  <a:spcPts val="263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Motivación, Problema y Datos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¿Por qué predecir enfermedades cardíacas?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1737360"/>
            <a:ext cx="8046720" cy="8046720"/>
            <a:chOff x="0" y="0"/>
            <a:chExt cx="10728960" cy="10728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2896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920240"/>
            <a:ext cx="7315200" cy="640080"/>
            <a:chOff x="0" y="0"/>
            <a:chExt cx="97536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97536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Contexto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2651760"/>
            <a:ext cx="7315200" cy="2926080"/>
            <a:chOff x="0" y="0"/>
            <a:chExt cx="9753600" cy="390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53600" cy="394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 enfermedades cardiovasculares son la principal causa de muerte en el mundo (OMS).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diagnóstico temprano puede salvar vidas y reducir costos hospitalarios.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D1B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dataset Heart Disease UCI contiene datos clínicos reales de pacientes.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5669280"/>
            <a:ext cx="7315200" cy="640080"/>
            <a:chOff x="0" y="0"/>
            <a:chExt cx="975360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7536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Variables del Dataset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6400800"/>
            <a:ext cx="7315200" cy="2743200"/>
            <a:chOff x="0" y="0"/>
            <a:chExt cx="9753600" cy="3657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753600" cy="3705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age, sex, cp (tipo de dolor pecho)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trestbps, chol, fbs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restecg, thalach, exang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oldpeak, slope, ca, thal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78240" y="1554480"/>
            <a:ext cx="8778240" cy="8046720"/>
            <a:chOff x="0" y="0"/>
            <a:chExt cx="11704320" cy="10728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0432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0" y="1920240"/>
            <a:ext cx="8412480" cy="640080"/>
            <a:chOff x="0" y="0"/>
            <a:chExt cx="1121664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16640" cy="853440"/>
            </a:xfrm>
            <a:custGeom>
              <a:avLst/>
              <a:gdLst/>
              <a:ahLst/>
              <a:cxnLst/>
              <a:rect r="r" b="b" t="t" l="l"/>
              <a:pathLst>
                <a:path h="8534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9" r="0" b="-20608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121664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Variable Objetivo — Distribución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4000" y="3567041"/>
            <a:ext cx="7816441" cy="3152919"/>
            <a:chOff x="0" y="0"/>
            <a:chExt cx="20797024" cy="8388898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20797024" cy="8388898"/>
            </a:xfrm>
            <a:custGeom>
              <a:avLst/>
              <a:gdLst/>
              <a:ahLst/>
              <a:cxnLst/>
              <a:rect r="r" b="b" t="t" l="l"/>
              <a:pathLst>
                <a:path h="8388898" w="20797024">
                  <a:moveTo>
                    <a:pt x="0" y="0"/>
                  </a:moveTo>
                  <a:lnTo>
                    <a:pt x="20797024" y="0"/>
                  </a:lnTo>
                  <a:lnTo>
                    <a:pt x="20797024" y="8388898"/>
                  </a:lnTo>
                  <a:lnTo>
                    <a:pt x="0" y="8388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16" r="0" b="-151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Análisis Exploratorio de Datos (EDA)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Variables numéricas más correlacionadas con la variable objetivo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1737360"/>
            <a:ext cx="17190720" cy="1005840"/>
            <a:chOff x="0" y="0"/>
            <a:chExt cx="2292096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BF4F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792224"/>
            <a:ext cx="16459200" cy="804672"/>
            <a:chOff x="0" y="0"/>
            <a:chExt cx="21945600" cy="1072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E86A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variables predictivas: cp, thalach, ca, oldpeak, exang, slope  |  Dataset: 302 registros, 13 features, sin valores nulos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182100" y="2743200"/>
            <a:ext cx="8906681" cy="5555542"/>
          </a:xfrm>
          <a:custGeom>
            <a:avLst/>
            <a:gdLst/>
            <a:ahLst/>
            <a:cxnLst/>
            <a:rect r="r" b="b" t="t" l="l"/>
            <a:pathLst>
              <a:path h="5555542" w="8906681">
                <a:moveTo>
                  <a:pt x="0" y="0"/>
                </a:moveTo>
                <a:lnTo>
                  <a:pt x="8906681" y="0"/>
                </a:lnTo>
                <a:lnTo>
                  <a:pt x="8906681" y="5555542"/>
                </a:lnTo>
                <a:lnTo>
                  <a:pt x="0" y="5555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58165" y="2743200"/>
            <a:ext cx="6983912" cy="6189492"/>
          </a:xfrm>
          <a:custGeom>
            <a:avLst/>
            <a:gdLst/>
            <a:ahLst/>
            <a:cxnLst/>
            <a:rect r="r" b="b" t="t" l="l"/>
            <a:pathLst>
              <a:path h="6189492" w="6983912">
                <a:moveTo>
                  <a:pt x="0" y="0"/>
                </a:moveTo>
                <a:lnTo>
                  <a:pt x="6983912" y="0"/>
                </a:lnTo>
                <a:lnTo>
                  <a:pt x="6983912" y="6189492"/>
                </a:lnTo>
                <a:lnTo>
                  <a:pt x="0" y="6189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EDA — Variables Categóricas y Outliers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Distribución por clase y detección de valores atípicos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59001" y="1500727"/>
            <a:ext cx="8051550" cy="4488739"/>
          </a:xfrm>
          <a:custGeom>
            <a:avLst/>
            <a:gdLst/>
            <a:ahLst/>
            <a:cxnLst/>
            <a:rect r="r" b="b" t="t" l="l"/>
            <a:pathLst>
              <a:path h="4488739" w="8051550">
                <a:moveTo>
                  <a:pt x="0" y="0"/>
                </a:moveTo>
                <a:lnTo>
                  <a:pt x="8051550" y="0"/>
                </a:lnTo>
                <a:lnTo>
                  <a:pt x="8051550" y="4488739"/>
                </a:lnTo>
                <a:lnTo>
                  <a:pt x="0" y="44887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826115" y="1500727"/>
            <a:ext cx="8115336" cy="4443146"/>
          </a:xfrm>
          <a:custGeom>
            <a:avLst/>
            <a:gdLst/>
            <a:ahLst/>
            <a:cxnLst/>
            <a:rect r="r" b="b" t="t" l="l"/>
            <a:pathLst>
              <a:path h="4443146" w="8115336">
                <a:moveTo>
                  <a:pt x="0" y="0"/>
                </a:moveTo>
                <a:lnTo>
                  <a:pt x="8115336" y="0"/>
                </a:lnTo>
                <a:lnTo>
                  <a:pt x="8115336" y="4443146"/>
                </a:lnTo>
                <a:lnTo>
                  <a:pt x="0" y="4443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094642" y="6084716"/>
            <a:ext cx="12308167" cy="4077080"/>
          </a:xfrm>
          <a:custGeom>
            <a:avLst/>
            <a:gdLst/>
            <a:ahLst/>
            <a:cxnLst/>
            <a:rect r="r" b="b" t="t" l="l"/>
            <a:pathLst>
              <a:path h="4077080" w="12308167">
                <a:moveTo>
                  <a:pt x="0" y="0"/>
                </a:moveTo>
                <a:lnTo>
                  <a:pt x="12308167" y="0"/>
                </a:lnTo>
                <a:lnTo>
                  <a:pt x="12308167" y="4077081"/>
                </a:lnTo>
                <a:lnTo>
                  <a:pt x="0" y="4077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Preprocesamiento de Datos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Limpieza, selección de características y normalización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1828800"/>
            <a:ext cx="5394960" cy="3108960"/>
            <a:chOff x="0" y="0"/>
            <a:chExt cx="7193280" cy="4145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93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1828800"/>
            <a:ext cx="5394960" cy="128016"/>
            <a:chOff x="0" y="0"/>
            <a:chExt cx="7193280" cy="170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93280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68096" y="2103120"/>
            <a:ext cx="4937760" cy="694944"/>
            <a:chOff x="0" y="0"/>
            <a:chExt cx="658368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58368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7AE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✓ Valores Nulos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68096" y="2834640"/>
            <a:ext cx="4937760" cy="1920240"/>
            <a:chOff x="0" y="0"/>
            <a:chExt cx="6583680" cy="2560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583680" cy="259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 encontraron valores nulos en el dataset. Verificación confirmada con isnull().sum().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17920" y="1828800"/>
            <a:ext cx="5394960" cy="3108960"/>
            <a:chOff x="0" y="0"/>
            <a:chExt cx="7193280" cy="4145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93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217920" y="1828800"/>
            <a:ext cx="5394960" cy="128016"/>
            <a:chOff x="0" y="0"/>
            <a:chExt cx="7193280" cy="1706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93280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37376" y="2103120"/>
            <a:ext cx="4937760" cy="694944"/>
            <a:chOff x="0" y="0"/>
            <a:chExt cx="658368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58368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⚡ Outliers (IQR)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37376" y="2834640"/>
            <a:ext cx="4937760" cy="1920240"/>
            <a:chOff x="0" y="0"/>
            <a:chExt cx="6583680" cy="25603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583680" cy="259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Outliers detectados pero conservados: los valores extremos de colesterol/presión son clínicamente válidos.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0" y="1828800"/>
            <a:ext cx="5394960" cy="3108960"/>
            <a:chOff x="0" y="0"/>
            <a:chExt cx="7193280" cy="4145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93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887200" y="1828800"/>
            <a:ext cx="5394960" cy="128016"/>
            <a:chOff x="0" y="0"/>
            <a:chExt cx="7193280" cy="1706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93280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106656" y="2103120"/>
            <a:ext cx="4937760" cy="694944"/>
            <a:chOff x="0" y="0"/>
            <a:chExt cx="6583680" cy="926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658368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★ Feature Selection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06656" y="2834640"/>
            <a:ext cx="4937760" cy="1920240"/>
            <a:chOff x="0" y="0"/>
            <a:chExt cx="6583680" cy="25603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836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583680" cy="259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SelectKBest (f_classif) confirmó relevancia de todas las 13 variables. Se conservaron las top features.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383280" y="5394960"/>
            <a:ext cx="5394960" cy="3108960"/>
            <a:chOff x="0" y="0"/>
            <a:chExt cx="7193280" cy="4145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93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3383280" y="5394960"/>
            <a:ext cx="5394960" cy="128016"/>
            <a:chOff x="0" y="0"/>
            <a:chExt cx="7193280" cy="1706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93280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602736" y="5669280"/>
            <a:ext cx="4937760" cy="694944"/>
            <a:chOff x="0" y="0"/>
            <a:chExt cx="658368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58368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E44A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= StandardScaler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602736" y="6400800"/>
            <a:ext cx="4937760" cy="1920240"/>
            <a:chOff x="0" y="0"/>
            <a:chExt cx="6583680" cy="25603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5836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583680" cy="259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fit_transform solo en X_train (80%) → transform en X_test (20%). Previene data leakage.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052560" y="5394960"/>
            <a:ext cx="5394960" cy="3108960"/>
            <a:chOff x="0" y="0"/>
            <a:chExt cx="7193280" cy="4145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1932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052560" y="5394960"/>
            <a:ext cx="5394960" cy="128016"/>
            <a:chOff x="0" y="0"/>
            <a:chExt cx="7193280" cy="1706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193280" cy="170688"/>
            </a:xfrm>
            <a:custGeom>
              <a:avLst/>
              <a:gdLst/>
              <a:ahLst/>
              <a:cxnLst/>
              <a:rect r="r" b="b" t="t" l="l"/>
              <a:pathLst>
                <a:path h="17068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272016" y="5669280"/>
            <a:ext cx="4937760" cy="694944"/>
            <a:chOff x="0" y="0"/>
            <a:chExt cx="658368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3680" cy="926592"/>
            </a:xfrm>
            <a:custGeom>
              <a:avLst/>
              <a:gdLst/>
              <a:ahLst/>
              <a:cxnLst/>
              <a:rect r="r" b="b" t="t" l="l"/>
              <a:pathLst>
                <a:path h="92659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658368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67E2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÷ Split 80/20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272016" y="6400800"/>
            <a:ext cx="4937760" cy="1920240"/>
            <a:chOff x="0" y="0"/>
            <a:chExt cx="6583680" cy="25603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583680" cy="2598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train_test_split estratificado (random_state=42) para mantener proporciones de clase en ambos conjuntos.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Preprocesamiento de Datos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Limpieza, selección de características y normalización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48507" y="1371600"/>
            <a:ext cx="16059465" cy="8772483"/>
          </a:xfrm>
          <a:custGeom>
            <a:avLst/>
            <a:gdLst/>
            <a:ahLst/>
            <a:cxnLst/>
            <a:rect r="r" b="b" t="t" l="l"/>
            <a:pathLst>
              <a:path h="8772483" w="16059465">
                <a:moveTo>
                  <a:pt x="0" y="0"/>
                </a:moveTo>
                <a:lnTo>
                  <a:pt x="16059466" y="0"/>
                </a:lnTo>
                <a:lnTo>
                  <a:pt x="16059466" y="8772483"/>
                </a:lnTo>
                <a:lnTo>
                  <a:pt x="0" y="8772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6304" cy="10287000"/>
            <a:chOff x="0" y="0"/>
            <a:chExt cx="19507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2194560"/>
            <a:ext cx="3657600" cy="2743200"/>
            <a:chOff x="0" y="0"/>
            <a:chExt cx="4876800" cy="365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6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876800" cy="366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3968605"/>
            <a:ext cx="17373600" cy="1645920"/>
            <a:chOff x="0" y="0"/>
            <a:chExt cx="231648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64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316480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Modelos de Clasificación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5394960"/>
            <a:ext cx="16459200" cy="822960"/>
            <a:chOff x="0" y="0"/>
            <a:chExt cx="219456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0CD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GNB · Decision Tree · Random Forest · SVM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7200" y="301752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Clasificación — GNB y Decision Tree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Métricas, matrices de confusión y curvas ROC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1505610"/>
            <a:ext cx="17249544" cy="268326"/>
            <a:chOff x="0" y="0"/>
            <a:chExt cx="10972800" cy="1706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212080" y="1907286"/>
            <a:ext cx="7863840" cy="640080"/>
            <a:chOff x="0" y="0"/>
            <a:chExt cx="1048512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48512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Gaussian Naive Bayes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46623" y="2642616"/>
            <a:ext cx="1645920" cy="1371600"/>
            <a:chOff x="0" y="0"/>
            <a:chExt cx="219456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446623" y="2642616"/>
            <a:ext cx="1645920" cy="128016"/>
            <a:chOff x="0" y="0"/>
            <a:chExt cx="2194560" cy="1706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" cy="170688"/>
            </a:xfrm>
            <a:custGeom>
              <a:avLst/>
              <a:gdLst/>
              <a:ahLst/>
              <a:cxnLst/>
              <a:rect r="r" b="b" t="t" l="l"/>
              <a:pathLst>
                <a:path h="17068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482818" y="3265932"/>
            <a:ext cx="1645920" cy="875549"/>
            <a:chOff x="0" y="0"/>
            <a:chExt cx="2194560" cy="11673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" cy="1167399"/>
            </a:xfrm>
            <a:custGeom>
              <a:avLst/>
              <a:gdLst/>
              <a:ahLst/>
              <a:cxnLst/>
              <a:rect r="r" b="b" t="t" l="l"/>
              <a:pathLst>
                <a:path h="1167399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167399"/>
                  </a:lnTo>
                  <a:lnTo>
                    <a:pt x="0" y="1167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" t="0" r="-5598" b="1853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194560" cy="1176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9"/>
                </a:lnSpc>
              </a:pPr>
              <a:r>
                <a:rPr lang="en-US" sz="4699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82%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442813" y="4177867"/>
            <a:ext cx="1645920" cy="438912"/>
            <a:chOff x="0" y="0"/>
            <a:chExt cx="219456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1945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363053" y="2642616"/>
            <a:ext cx="1645920" cy="1371600"/>
            <a:chOff x="0" y="0"/>
            <a:chExt cx="2194560" cy="1828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363053" y="2642616"/>
            <a:ext cx="1645920" cy="128016"/>
            <a:chOff x="0" y="0"/>
            <a:chExt cx="2194560" cy="1706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" cy="170688"/>
            </a:xfrm>
            <a:custGeom>
              <a:avLst/>
              <a:gdLst/>
              <a:ahLst/>
              <a:cxnLst/>
              <a:rect r="r" b="b" t="t" l="l"/>
              <a:pathLst>
                <a:path h="17068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271613" y="3274124"/>
            <a:ext cx="1737360" cy="875549"/>
            <a:chOff x="0" y="0"/>
            <a:chExt cx="2316480" cy="11673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16480" cy="1167399"/>
            </a:xfrm>
            <a:custGeom>
              <a:avLst/>
              <a:gdLst/>
              <a:ahLst/>
              <a:cxnLst/>
              <a:rect r="r" b="b" t="t" l="l"/>
              <a:pathLst>
                <a:path h="1167399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167399"/>
                  </a:lnTo>
                  <a:lnTo>
                    <a:pt x="0" y="1167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03" t="0" r="-40" b="1853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316480" cy="1176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9"/>
                </a:lnSpc>
              </a:pPr>
              <a:r>
                <a:rPr lang="en-US" sz="4699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79%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271613" y="4177867"/>
            <a:ext cx="1645920" cy="438912"/>
            <a:chOff x="0" y="0"/>
            <a:chExt cx="2194560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1945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42301" y="2642616"/>
            <a:ext cx="1645920" cy="1371600"/>
            <a:chOff x="0" y="0"/>
            <a:chExt cx="2194560" cy="1828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42301" y="2642616"/>
            <a:ext cx="1645920" cy="128016"/>
            <a:chOff x="0" y="0"/>
            <a:chExt cx="2194560" cy="1706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" cy="170688"/>
            </a:xfrm>
            <a:custGeom>
              <a:avLst/>
              <a:gdLst/>
              <a:ahLst/>
              <a:cxnLst/>
              <a:rect r="r" b="b" t="t" l="l"/>
              <a:pathLst>
                <a:path h="17068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150861" y="3274124"/>
            <a:ext cx="1737360" cy="875549"/>
            <a:chOff x="0" y="0"/>
            <a:chExt cx="2316480" cy="116739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16480" cy="1167399"/>
            </a:xfrm>
            <a:custGeom>
              <a:avLst/>
              <a:gdLst/>
              <a:ahLst/>
              <a:cxnLst/>
              <a:rect r="r" b="b" t="t" l="l"/>
              <a:pathLst>
                <a:path h="1167399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167399"/>
                  </a:lnTo>
                  <a:lnTo>
                    <a:pt x="0" y="1167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03" t="0" r="-40" b="1853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316480" cy="1176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9"/>
                </a:lnSpc>
              </a:pPr>
              <a:r>
                <a:rPr lang="en-US" sz="4699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90.9%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150861" y="4177867"/>
            <a:ext cx="1645920" cy="438912"/>
            <a:chOff x="0" y="0"/>
            <a:chExt cx="2194560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1945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12989" y="2642616"/>
            <a:ext cx="1645920" cy="1371600"/>
            <a:chOff x="0" y="0"/>
            <a:chExt cx="2194560" cy="182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212989" y="2642616"/>
            <a:ext cx="1645920" cy="128016"/>
            <a:chOff x="0" y="0"/>
            <a:chExt cx="2194560" cy="1706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4560" cy="170688"/>
            </a:xfrm>
            <a:custGeom>
              <a:avLst/>
              <a:gdLst/>
              <a:ahLst/>
              <a:cxnLst/>
              <a:rect r="r" b="b" t="t" l="l"/>
              <a:pathLst>
                <a:path h="17068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121549" y="3274124"/>
            <a:ext cx="1737360" cy="875549"/>
            <a:chOff x="0" y="0"/>
            <a:chExt cx="2316480" cy="116739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16480" cy="1167399"/>
            </a:xfrm>
            <a:custGeom>
              <a:avLst/>
              <a:gdLst/>
              <a:ahLst/>
              <a:cxnLst/>
              <a:rect r="r" b="b" t="t" l="l"/>
              <a:pathLst>
                <a:path h="1167399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167399"/>
                  </a:lnTo>
                  <a:lnTo>
                    <a:pt x="0" y="1167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03" t="0" r="-40" b="1853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316480" cy="1176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9"/>
                </a:lnSpc>
              </a:pPr>
              <a:r>
                <a:rPr lang="en-US" sz="4699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84.5%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212989" y="4177867"/>
            <a:ext cx="1645920" cy="438912"/>
            <a:chOff x="0" y="0"/>
            <a:chExt cx="2194560" cy="58521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1945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F1-Score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1353211" y="4961774"/>
            <a:ext cx="15640401" cy="4242459"/>
          </a:xfrm>
          <a:custGeom>
            <a:avLst/>
            <a:gdLst/>
            <a:ahLst/>
            <a:cxnLst/>
            <a:rect r="r" b="b" t="t" l="l"/>
            <a:pathLst>
              <a:path h="4242459" w="15640401">
                <a:moveTo>
                  <a:pt x="0" y="0"/>
                </a:moveTo>
                <a:lnTo>
                  <a:pt x="15640401" y="0"/>
                </a:lnTo>
                <a:lnTo>
                  <a:pt x="15640401" y="4242459"/>
                </a:lnTo>
                <a:lnTo>
                  <a:pt x="0" y="4242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Clasificación — GNB y Decision Tree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Métricas, matrices de confusión y curvas ROC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7200" y="1645920"/>
            <a:ext cx="17282160" cy="260162"/>
            <a:chOff x="0" y="0"/>
            <a:chExt cx="11338560" cy="1706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8560" cy="170688"/>
            </a:xfrm>
            <a:custGeom>
              <a:avLst/>
              <a:gdLst/>
              <a:ahLst/>
              <a:cxnLst/>
              <a:rect r="r" b="b" t="t" l="l"/>
              <a:pathLst>
                <a:path h="17068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120640" y="2319566"/>
            <a:ext cx="8046720" cy="596020"/>
            <a:chOff x="0" y="0"/>
            <a:chExt cx="10728960" cy="7946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0" cy="794694"/>
            </a:xfrm>
            <a:custGeom>
              <a:avLst/>
              <a:gdLst/>
              <a:ahLst/>
              <a:cxnLst/>
              <a:rect r="r" b="b" t="t" l="l"/>
              <a:pathLst>
                <a:path h="79469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94694"/>
                  </a:lnTo>
                  <a:lnTo>
                    <a:pt x="0" y="794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366" r="0" b="-21675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0728960" cy="804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67E2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Decision Tree (max_depth=5)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0" y="2966673"/>
            <a:ext cx="1737360" cy="1277186"/>
            <a:chOff x="0" y="0"/>
            <a:chExt cx="2316480" cy="17029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16480" cy="1702915"/>
            </a:xfrm>
            <a:custGeom>
              <a:avLst/>
              <a:gdLst/>
              <a:ahLst/>
              <a:cxnLst/>
              <a:rect r="r" b="b" t="t" l="l"/>
              <a:pathLst>
                <a:path h="1702915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702915"/>
                  </a:lnTo>
                  <a:lnTo>
                    <a:pt x="0" y="170291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120640" y="2966673"/>
            <a:ext cx="1737360" cy="119204"/>
            <a:chOff x="0" y="0"/>
            <a:chExt cx="2316480" cy="1589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16480" cy="158939"/>
            </a:xfrm>
            <a:custGeom>
              <a:avLst/>
              <a:gdLst/>
              <a:ahLst/>
              <a:cxnLst/>
              <a:rect r="r" b="b" t="t" l="l"/>
              <a:pathLst>
                <a:path h="158939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58939"/>
                  </a:lnTo>
                  <a:lnTo>
                    <a:pt x="0" y="158939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120640" y="3165829"/>
            <a:ext cx="1737360" cy="817637"/>
            <a:chOff x="0" y="0"/>
            <a:chExt cx="2316480" cy="10901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1648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1" t="0" r="-2671" b="1276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31648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67E2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78.7</a:t>
              </a:r>
              <a:r>
                <a:rPr lang="en-US" sz="4400" b="true">
                  <a:solidFill>
                    <a:srgbClr val="E67E2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120640" y="3796845"/>
            <a:ext cx="1737360" cy="408700"/>
            <a:chOff x="0" y="0"/>
            <a:chExt cx="2316480" cy="5449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16480" cy="544933"/>
            </a:xfrm>
            <a:custGeom>
              <a:avLst/>
              <a:gdLst/>
              <a:ahLst/>
              <a:cxnLst/>
              <a:rect r="r" b="b" t="t" l="l"/>
              <a:pathLst>
                <a:path h="544933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544933"/>
                  </a:lnTo>
                  <a:lnTo>
                    <a:pt x="0" y="5449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33" r="0" b="-365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316480" cy="583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949440" y="2966673"/>
            <a:ext cx="1737360" cy="1277186"/>
            <a:chOff x="0" y="0"/>
            <a:chExt cx="2316480" cy="170291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16480" cy="1702915"/>
            </a:xfrm>
            <a:custGeom>
              <a:avLst/>
              <a:gdLst/>
              <a:ahLst/>
              <a:cxnLst/>
              <a:rect r="r" b="b" t="t" l="l"/>
              <a:pathLst>
                <a:path h="1702915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702915"/>
                  </a:lnTo>
                  <a:lnTo>
                    <a:pt x="0" y="170291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949440" y="2966673"/>
            <a:ext cx="1737360" cy="119204"/>
            <a:chOff x="0" y="0"/>
            <a:chExt cx="2316480" cy="15893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16480" cy="158939"/>
            </a:xfrm>
            <a:custGeom>
              <a:avLst/>
              <a:gdLst/>
              <a:ahLst/>
              <a:cxnLst/>
              <a:rect r="r" b="b" t="t" l="l"/>
              <a:pathLst>
                <a:path h="158939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58939"/>
                  </a:lnTo>
                  <a:lnTo>
                    <a:pt x="0" y="158939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949440" y="3068611"/>
            <a:ext cx="1737360" cy="817637"/>
            <a:chOff x="0" y="0"/>
            <a:chExt cx="2316480" cy="10901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1648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1" t="0" r="-2671" b="1276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31648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67E2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73.8</a:t>
              </a:r>
              <a:r>
                <a:rPr lang="en-US" sz="4400" b="true">
                  <a:solidFill>
                    <a:srgbClr val="E67E2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949440" y="3796845"/>
            <a:ext cx="1737360" cy="408700"/>
            <a:chOff x="0" y="0"/>
            <a:chExt cx="2316480" cy="54493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16480" cy="544933"/>
            </a:xfrm>
            <a:custGeom>
              <a:avLst/>
              <a:gdLst/>
              <a:ahLst/>
              <a:cxnLst/>
              <a:rect r="r" b="b" t="t" l="l"/>
              <a:pathLst>
                <a:path h="544933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544933"/>
                  </a:lnTo>
                  <a:lnTo>
                    <a:pt x="0" y="5449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33" r="0" b="-365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316480" cy="583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778240" y="2966673"/>
            <a:ext cx="1737360" cy="1277186"/>
            <a:chOff x="0" y="0"/>
            <a:chExt cx="2316480" cy="170291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16480" cy="1702915"/>
            </a:xfrm>
            <a:custGeom>
              <a:avLst/>
              <a:gdLst/>
              <a:ahLst/>
              <a:cxnLst/>
              <a:rect r="r" b="b" t="t" l="l"/>
              <a:pathLst>
                <a:path h="1702915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702915"/>
                  </a:lnTo>
                  <a:lnTo>
                    <a:pt x="0" y="170291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778240" y="2966673"/>
            <a:ext cx="1737360" cy="119204"/>
            <a:chOff x="0" y="0"/>
            <a:chExt cx="2316480" cy="15893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16480" cy="158939"/>
            </a:xfrm>
            <a:custGeom>
              <a:avLst/>
              <a:gdLst/>
              <a:ahLst/>
              <a:cxnLst/>
              <a:rect r="r" b="b" t="t" l="l"/>
              <a:pathLst>
                <a:path h="158939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58939"/>
                  </a:lnTo>
                  <a:lnTo>
                    <a:pt x="0" y="158939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778240" y="3068611"/>
            <a:ext cx="1737360" cy="817637"/>
            <a:chOff x="0" y="0"/>
            <a:chExt cx="2316480" cy="10901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1648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1" t="0" r="-2671" b="1276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31648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67E2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93.9</a:t>
              </a:r>
              <a:r>
                <a:rPr lang="en-US" sz="4400" b="true">
                  <a:solidFill>
                    <a:srgbClr val="E67E2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778240" y="3796845"/>
            <a:ext cx="1737360" cy="408700"/>
            <a:chOff x="0" y="0"/>
            <a:chExt cx="2316480" cy="54493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16480" cy="544933"/>
            </a:xfrm>
            <a:custGeom>
              <a:avLst/>
              <a:gdLst/>
              <a:ahLst/>
              <a:cxnLst/>
              <a:rect r="r" b="b" t="t" l="l"/>
              <a:pathLst>
                <a:path h="544933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544933"/>
                  </a:lnTo>
                  <a:lnTo>
                    <a:pt x="0" y="5449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33" r="0" b="-365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316480" cy="583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607040" y="2966673"/>
            <a:ext cx="1737360" cy="1277186"/>
            <a:chOff x="0" y="0"/>
            <a:chExt cx="2316480" cy="170291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16480" cy="1702915"/>
            </a:xfrm>
            <a:custGeom>
              <a:avLst/>
              <a:gdLst/>
              <a:ahLst/>
              <a:cxnLst/>
              <a:rect r="r" b="b" t="t" l="l"/>
              <a:pathLst>
                <a:path h="1702915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702915"/>
                  </a:lnTo>
                  <a:lnTo>
                    <a:pt x="0" y="170291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607040" y="2966673"/>
            <a:ext cx="1737360" cy="119204"/>
            <a:chOff x="0" y="0"/>
            <a:chExt cx="2316480" cy="15893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16480" cy="158939"/>
            </a:xfrm>
            <a:custGeom>
              <a:avLst/>
              <a:gdLst/>
              <a:ahLst/>
              <a:cxnLst/>
              <a:rect r="r" b="b" t="t" l="l"/>
              <a:pathLst>
                <a:path h="158939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58939"/>
                  </a:lnTo>
                  <a:lnTo>
                    <a:pt x="0" y="158939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607040" y="3068611"/>
            <a:ext cx="1737360" cy="817637"/>
            <a:chOff x="0" y="0"/>
            <a:chExt cx="2316480" cy="109018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1648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1" t="0" r="-2671" b="1276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31648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E67E2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82.7</a:t>
              </a:r>
              <a:r>
                <a:rPr lang="en-US" sz="4400" b="true">
                  <a:solidFill>
                    <a:srgbClr val="E67E2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607040" y="3796845"/>
            <a:ext cx="1737360" cy="408700"/>
            <a:chOff x="0" y="0"/>
            <a:chExt cx="2316480" cy="54493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16480" cy="544933"/>
            </a:xfrm>
            <a:custGeom>
              <a:avLst/>
              <a:gdLst/>
              <a:ahLst/>
              <a:cxnLst/>
              <a:rect r="r" b="b" t="t" l="l"/>
              <a:pathLst>
                <a:path h="544933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544933"/>
                  </a:lnTo>
                  <a:lnTo>
                    <a:pt x="0" y="5449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33" r="0" b="-3652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316480" cy="583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F1-Score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2264656" y="4884780"/>
            <a:ext cx="13667249" cy="4373520"/>
          </a:xfrm>
          <a:custGeom>
            <a:avLst/>
            <a:gdLst/>
            <a:ahLst/>
            <a:cxnLst/>
            <a:rect r="r" b="b" t="t" l="l"/>
            <a:pathLst>
              <a:path h="4373520" w="13667249">
                <a:moveTo>
                  <a:pt x="0" y="0"/>
                </a:moveTo>
                <a:lnTo>
                  <a:pt x="13667248" y="0"/>
                </a:lnTo>
                <a:lnTo>
                  <a:pt x="13667248" y="4373520"/>
                </a:lnTo>
                <a:lnTo>
                  <a:pt x="0" y="437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Clasificación — Random Forest y SVM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Métricas, matrices de confusión y curvas ROC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1645920"/>
            <a:ext cx="17362042" cy="8321040"/>
            <a:chOff x="0" y="0"/>
            <a:chExt cx="23149390" cy="11094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14939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23149390">
                  <a:moveTo>
                    <a:pt x="0" y="0"/>
                  </a:moveTo>
                  <a:lnTo>
                    <a:pt x="23149390" y="0"/>
                  </a:lnTo>
                  <a:lnTo>
                    <a:pt x="2314939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1503860"/>
            <a:ext cx="17362042" cy="270076"/>
            <a:chOff x="0" y="0"/>
            <a:chExt cx="10972800" cy="170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958872" y="2470976"/>
            <a:ext cx="7863840" cy="640080"/>
            <a:chOff x="0" y="0"/>
            <a:chExt cx="1048512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048512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7AE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Random Forest (100 árboles)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958872" y="3165920"/>
            <a:ext cx="1645920" cy="1371600"/>
            <a:chOff x="0" y="0"/>
            <a:chExt cx="219456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958872" y="3165920"/>
            <a:ext cx="1645920" cy="128016"/>
            <a:chOff x="0" y="0"/>
            <a:chExt cx="2194560" cy="1706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" cy="170688"/>
            </a:xfrm>
            <a:custGeom>
              <a:avLst/>
              <a:gdLst/>
              <a:ahLst/>
              <a:cxnLst/>
              <a:rect r="r" b="b" t="t" l="l"/>
              <a:pathLst>
                <a:path h="17068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958872" y="3440240"/>
            <a:ext cx="1645920" cy="817637"/>
            <a:chOff x="0" y="0"/>
            <a:chExt cx="2194560" cy="10901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" t="0" r="-5598" b="127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19456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7AE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78.7</a:t>
              </a:r>
              <a:r>
                <a:rPr lang="en-US" sz="4400" b="true">
                  <a:solidFill>
                    <a:srgbClr val="27AE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958872" y="4057460"/>
            <a:ext cx="1645920" cy="438912"/>
            <a:chOff x="0" y="0"/>
            <a:chExt cx="219456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96232" y="3165920"/>
            <a:ext cx="1645920" cy="1371600"/>
            <a:chOff x="0" y="0"/>
            <a:chExt cx="219456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696232" y="3165920"/>
            <a:ext cx="1645920" cy="128016"/>
            <a:chOff x="0" y="0"/>
            <a:chExt cx="2194560" cy="1706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" cy="170688"/>
            </a:xfrm>
            <a:custGeom>
              <a:avLst/>
              <a:gdLst/>
              <a:ahLst/>
              <a:cxnLst/>
              <a:rect r="r" b="b" t="t" l="l"/>
              <a:pathLst>
                <a:path h="17068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696232" y="3440240"/>
            <a:ext cx="1645920" cy="817637"/>
            <a:chOff x="0" y="0"/>
            <a:chExt cx="2194560" cy="10901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" t="0" r="-5598" b="1276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219456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7AE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75.0</a:t>
              </a:r>
              <a:r>
                <a:rPr lang="en-US" sz="4400" b="true">
                  <a:solidFill>
                    <a:srgbClr val="27AE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696232" y="4057460"/>
            <a:ext cx="1645920" cy="438912"/>
            <a:chOff x="0" y="0"/>
            <a:chExt cx="2194560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33592" y="3165920"/>
            <a:ext cx="1645920" cy="1371600"/>
            <a:chOff x="0" y="0"/>
            <a:chExt cx="2194560" cy="1828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433592" y="3165920"/>
            <a:ext cx="1645920" cy="128016"/>
            <a:chOff x="0" y="0"/>
            <a:chExt cx="2194560" cy="1706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170688"/>
            </a:xfrm>
            <a:custGeom>
              <a:avLst/>
              <a:gdLst/>
              <a:ahLst/>
              <a:cxnLst/>
              <a:rect r="r" b="b" t="t" l="l"/>
              <a:pathLst>
                <a:path h="17068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433592" y="3440240"/>
            <a:ext cx="1645920" cy="817637"/>
            <a:chOff x="0" y="0"/>
            <a:chExt cx="2194560" cy="109018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" t="0" r="-5598" b="1276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19456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7AE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90.9</a:t>
              </a:r>
              <a:r>
                <a:rPr lang="en-US" sz="4400" b="true">
                  <a:solidFill>
                    <a:srgbClr val="27AE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33592" y="4057460"/>
            <a:ext cx="1645920" cy="438912"/>
            <a:chOff x="0" y="0"/>
            <a:chExt cx="219456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70952" y="3165920"/>
            <a:ext cx="1645920" cy="1371600"/>
            <a:chOff x="0" y="0"/>
            <a:chExt cx="2194560" cy="1828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170952" y="3165920"/>
            <a:ext cx="1645920" cy="128016"/>
            <a:chOff x="0" y="0"/>
            <a:chExt cx="2194560" cy="1706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4560" cy="170688"/>
            </a:xfrm>
            <a:custGeom>
              <a:avLst/>
              <a:gdLst/>
              <a:ahLst/>
              <a:cxnLst/>
              <a:rect r="r" b="b" t="t" l="l"/>
              <a:pathLst>
                <a:path h="17068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170952" y="3440240"/>
            <a:ext cx="1645920" cy="817637"/>
            <a:chOff x="0" y="0"/>
            <a:chExt cx="2194560" cy="10901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98" t="0" r="-5598" b="1276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219456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7AE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82.2</a:t>
              </a:r>
              <a:r>
                <a:rPr lang="en-US" sz="4400" b="true">
                  <a:solidFill>
                    <a:srgbClr val="27AE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170952" y="4057460"/>
            <a:ext cx="1645920" cy="438912"/>
            <a:chOff x="0" y="0"/>
            <a:chExt cx="219456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1945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F1-Score</a:t>
              </a: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1617859" y="5143500"/>
            <a:ext cx="15052282" cy="4064116"/>
          </a:xfrm>
          <a:custGeom>
            <a:avLst/>
            <a:gdLst/>
            <a:ahLst/>
            <a:cxnLst/>
            <a:rect r="r" b="b" t="t" l="l"/>
            <a:pathLst>
              <a:path h="4064116" w="15052282">
                <a:moveTo>
                  <a:pt x="0" y="0"/>
                </a:moveTo>
                <a:lnTo>
                  <a:pt x="15052282" y="0"/>
                </a:lnTo>
                <a:lnTo>
                  <a:pt x="15052282" y="4064116"/>
                </a:lnTo>
                <a:lnTo>
                  <a:pt x="0" y="4064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Clasificación — Random Forest y SVM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Métricas, matrices de confusión y curvas ROC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7200" y="1645920"/>
            <a:ext cx="17282160" cy="8321040"/>
            <a:chOff x="0" y="0"/>
            <a:chExt cx="23042880" cy="11094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4288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23042880">
                  <a:moveTo>
                    <a:pt x="0" y="0"/>
                  </a:moveTo>
                  <a:lnTo>
                    <a:pt x="23042880" y="0"/>
                  </a:lnTo>
                  <a:lnTo>
                    <a:pt x="2304288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7200" y="1575029"/>
            <a:ext cx="17282160" cy="260162"/>
            <a:chOff x="0" y="0"/>
            <a:chExt cx="11338560" cy="1706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38560" cy="170688"/>
            </a:xfrm>
            <a:custGeom>
              <a:avLst/>
              <a:gdLst/>
              <a:ahLst/>
              <a:cxnLst/>
              <a:rect r="r" b="b" t="t" l="l"/>
              <a:pathLst>
                <a:path h="170688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709160" y="1828800"/>
            <a:ext cx="8046720" cy="640080"/>
            <a:chOff x="0" y="0"/>
            <a:chExt cx="1072896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072896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SVM (kernel=RBF, C=1)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09160" y="2523744"/>
            <a:ext cx="1737360" cy="1371600"/>
            <a:chOff x="0" y="0"/>
            <a:chExt cx="231648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16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709160" y="2523744"/>
            <a:ext cx="1737360" cy="128016"/>
            <a:chOff x="0" y="0"/>
            <a:chExt cx="2316480" cy="1706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16480" cy="170688"/>
            </a:xfrm>
            <a:custGeom>
              <a:avLst/>
              <a:gdLst/>
              <a:ahLst/>
              <a:cxnLst/>
              <a:rect r="r" b="b" t="t" l="l"/>
              <a:pathLst>
                <a:path h="1706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709160" y="2798064"/>
            <a:ext cx="1737360" cy="817637"/>
            <a:chOff x="0" y="0"/>
            <a:chExt cx="2316480" cy="10901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1648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1" t="0" r="-2671" b="127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31648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83.6</a:t>
              </a:r>
              <a:r>
                <a:rPr lang="en-US" sz="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709160" y="3415284"/>
            <a:ext cx="1737360" cy="438912"/>
            <a:chOff x="0" y="0"/>
            <a:chExt cx="231648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16480" cy="585216"/>
            </a:xfrm>
            <a:custGeom>
              <a:avLst/>
              <a:gdLst/>
              <a:ahLst/>
              <a:cxnLst/>
              <a:rect r="r" b="b" t="t" l="l"/>
              <a:pathLst>
                <a:path h="585216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3164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37960" y="2523744"/>
            <a:ext cx="1737360" cy="1371600"/>
            <a:chOff x="0" y="0"/>
            <a:chExt cx="231648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16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537960" y="2523744"/>
            <a:ext cx="1737360" cy="128016"/>
            <a:chOff x="0" y="0"/>
            <a:chExt cx="2316480" cy="1706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16480" cy="170688"/>
            </a:xfrm>
            <a:custGeom>
              <a:avLst/>
              <a:gdLst/>
              <a:ahLst/>
              <a:cxnLst/>
              <a:rect r="r" b="b" t="t" l="l"/>
              <a:pathLst>
                <a:path h="1706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537960" y="2798064"/>
            <a:ext cx="1737360" cy="817637"/>
            <a:chOff x="0" y="0"/>
            <a:chExt cx="2316480" cy="10901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1648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1" t="0" r="-2671" b="1276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231648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79.5</a:t>
              </a:r>
              <a:r>
                <a:rPr lang="en-US" sz="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537960" y="3415284"/>
            <a:ext cx="1737360" cy="438912"/>
            <a:chOff x="0" y="0"/>
            <a:chExt cx="2316480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316480" cy="585216"/>
            </a:xfrm>
            <a:custGeom>
              <a:avLst/>
              <a:gdLst/>
              <a:ahLst/>
              <a:cxnLst/>
              <a:rect r="r" b="b" t="t" l="l"/>
              <a:pathLst>
                <a:path h="585216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3164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366760" y="2523744"/>
            <a:ext cx="1737360" cy="1371600"/>
            <a:chOff x="0" y="0"/>
            <a:chExt cx="2316480" cy="1828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16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366760" y="2523744"/>
            <a:ext cx="1737360" cy="128016"/>
            <a:chOff x="0" y="0"/>
            <a:chExt cx="2316480" cy="1706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16480" cy="170688"/>
            </a:xfrm>
            <a:custGeom>
              <a:avLst/>
              <a:gdLst/>
              <a:ahLst/>
              <a:cxnLst/>
              <a:rect r="r" b="b" t="t" l="l"/>
              <a:pathLst>
                <a:path h="1706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366760" y="2798064"/>
            <a:ext cx="1737360" cy="817637"/>
            <a:chOff x="0" y="0"/>
            <a:chExt cx="2316480" cy="109018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1648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1" t="0" r="-2671" b="1276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31648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93.9</a:t>
              </a:r>
              <a:r>
                <a:rPr lang="en-US" sz="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366760" y="3415284"/>
            <a:ext cx="1737360" cy="438912"/>
            <a:chOff x="0" y="0"/>
            <a:chExt cx="231648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16480" cy="585216"/>
            </a:xfrm>
            <a:custGeom>
              <a:avLst/>
              <a:gdLst/>
              <a:ahLst/>
              <a:cxnLst/>
              <a:rect r="r" b="b" t="t" l="l"/>
              <a:pathLst>
                <a:path h="585216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3164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195560" y="2523744"/>
            <a:ext cx="1737360" cy="1371600"/>
            <a:chOff x="0" y="0"/>
            <a:chExt cx="2316480" cy="1828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16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195560" y="2523744"/>
            <a:ext cx="1737360" cy="128016"/>
            <a:chOff x="0" y="0"/>
            <a:chExt cx="2316480" cy="1706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16480" cy="170688"/>
            </a:xfrm>
            <a:custGeom>
              <a:avLst/>
              <a:gdLst/>
              <a:ahLst/>
              <a:cxnLst/>
              <a:rect r="r" b="b" t="t" l="l"/>
              <a:pathLst>
                <a:path h="1706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195560" y="2798064"/>
            <a:ext cx="1737360" cy="817637"/>
            <a:chOff x="0" y="0"/>
            <a:chExt cx="2316480" cy="10901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316480" cy="1090182"/>
            </a:xfrm>
            <a:custGeom>
              <a:avLst/>
              <a:gdLst/>
              <a:ahLst/>
              <a:cxnLst/>
              <a:rect r="r" b="b" t="t" l="l"/>
              <a:pathLst>
                <a:path h="109018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090182"/>
                  </a:lnTo>
                  <a:lnTo>
                    <a:pt x="0" y="1090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71" t="0" r="-2671" b="1276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2316480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86.1</a:t>
              </a:r>
              <a:r>
                <a:rPr lang="en-US" sz="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195560" y="3415284"/>
            <a:ext cx="1737360" cy="438912"/>
            <a:chOff x="0" y="0"/>
            <a:chExt cx="231648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316480" cy="585216"/>
            </a:xfrm>
            <a:custGeom>
              <a:avLst/>
              <a:gdLst/>
              <a:ahLst/>
              <a:cxnLst/>
              <a:rect r="r" b="b" t="t" l="l"/>
              <a:pathLst>
                <a:path h="585216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3164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F1-Score</a:t>
              </a: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1352374" y="4371594"/>
            <a:ext cx="15237576" cy="4704601"/>
          </a:xfrm>
          <a:custGeom>
            <a:avLst/>
            <a:gdLst/>
            <a:ahLst/>
            <a:cxnLst/>
            <a:rect r="r" b="b" t="t" l="l"/>
            <a:pathLst>
              <a:path h="4704601" w="15237576">
                <a:moveTo>
                  <a:pt x="0" y="0"/>
                </a:moveTo>
                <a:lnTo>
                  <a:pt x="15237576" y="0"/>
                </a:lnTo>
                <a:lnTo>
                  <a:pt x="15237576" y="4704601"/>
                </a:lnTo>
                <a:lnTo>
                  <a:pt x="0" y="470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7200" y="329184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Ablation Study — Modelos de Clasificación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Impacto de hiperparámetros en el desempeño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5990" y="1891016"/>
            <a:ext cx="9110090" cy="3507385"/>
          </a:xfrm>
          <a:custGeom>
            <a:avLst/>
            <a:gdLst/>
            <a:ahLst/>
            <a:cxnLst/>
            <a:rect r="r" b="b" t="t" l="l"/>
            <a:pathLst>
              <a:path h="3507385" w="9110090">
                <a:moveTo>
                  <a:pt x="0" y="0"/>
                </a:moveTo>
                <a:lnTo>
                  <a:pt x="9110090" y="0"/>
                </a:lnTo>
                <a:lnTo>
                  <a:pt x="9110090" y="3507385"/>
                </a:lnTo>
                <a:lnTo>
                  <a:pt x="0" y="35073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145266" y="1891016"/>
            <a:ext cx="6911103" cy="3507385"/>
          </a:xfrm>
          <a:custGeom>
            <a:avLst/>
            <a:gdLst/>
            <a:ahLst/>
            <a:cxnLst/>
            <a:rect r="r" b="b" t="t" l="l"/>
            <a:pathLst>
              <a:path h="3507385" w="6911103">
                <a:moveTo>
                  <a:pt x="0" y="0"/>
                </a:moveTo>
                <a:lnTo>
                  <a:pt x="6911103" y="0"/>
                </a:lnTo>
                <a:lnTo>
                  <a:pt x="6911103" y="3507385"/>
                </a:lnTo>
                <a:lnTo>
                  <a:pt x="0" y="3507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579785" y="5884176"/>
            <a:ext cx="10396911" cy="3638919"/>
          </a:xfrm>
          <a:custGeom>
            <a:avLst/>
            <a:gdLst/>
            <a:ahLst/>
            <a:cxnLst/>
            <a:rect r="r" b="b" t="t" l="l"/>
            <a:pathLst>
              <a:path h="3638919" w="10396911">
                <a:moveTo>
                  <a:pt x="0" y="0"/>
                </a:moveTo>
                <a:lnTo>
                  <a:pt x="10396910" y="0"/>
                </a:lnTo>
                <a:lnTo>
                  <a:pt x="10396910" y="3638919"/>
                </a:lnTo>
                <a:lnTo>
                  <a:pt x="0" y="3638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7200" y="301752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Tabla Comparativa Final — Clasificación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Mejor modelo: SVM con kernel RBF, C=10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35731" y="4001523"/>
            <a:ext cx="4114800" cy="4389120"/>
            <a:chOff x="0" y="0"/>
            <a:chExt cx="5486400" cy="5852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FFF3C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835731" y="4001523"/>
            <a:ext cx="4114800" cy="109728"/>
            <a:chOff x="0" y="0"/>
            <a:chExt cx="5486400" cy="1463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146304"/>
            </a:xfrm>
            <a:custGeom>
              <a:avLst/>
              <a:gdLst/>
              <a:ahLst/>
              <a:cxnLst/>
              <a:rect r="r" b="b" t="t" l="l"/>
              <a:pathLst>
                <a:path h="14630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018611" y="4147827"/>
            <a:ext cx="3749040" cy="548640"/>
            <a:chOff x="0" y="0"/>
            <a:chExt cx="49987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98720" cy="731520"/>
            </a:xfrm>
            <a:custGeom>
              <a:avLst/>
              <a:gdLst/>
              <a:ahLst/>
              <a:cxnLst/>
              <a:rect r="r" b="b" t="t" l="l"/>
              <a:pathLst>
                <a:path h="73152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998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★ MEJOR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018611" y="4769619"/>
            <a:ext cx="3749040" cy="1280160"/>
            <a:chOff x="0" y="0"/>
            <a:chExt cx="4998720" cy="1706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98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3" r="0" b="-706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9987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SVM (kernel=RBF)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018611" y="6122931"/>
            <a:ext cx="3749040" cy="993949"/>
            <a:chOff x="0" y="0"/>
            <a:chExt cx="4998720" cy="13252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98720" cy="1325265"/>
            </a:xfrm>
            <a:custGeom>
              <a:avLst/>
              <a:gdLst/>
              <a:ahLst/>
              <a:cxnLst/>
              <a:rect r="r" b="b" t="t" l="l"/>
              <a:pathLst>
                <a:path h="1325265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325265"/>
                  </a:lnTo>
                  <a:lnTo>
                    <a:pt x="0" y="13252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96" r="0" b="-1949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998720" cy="1363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Accuracy:83.6%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Recall: 93.9%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F1: 86.1%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018611" y="7110483"/>
            <a:ext cx="3749040" cy="914400"/>
            <a:chOff x="0" y="0"/>
            <a:chExt cx="499872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98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987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C0392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↑ Maximiza Recall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C0392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(crítico en salud: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C0392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evita Falsos Negativos)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493776" y="3957805"/>
            <a:ext cx="12836001" cy="4476555"/>
          </a:xfrm>
          <a:custGeom>
            <a:avLst/>
            <a:gdLst/>
            <a:ahLst/>
            <a:cxnLst/>
            <a:rect r="r" b="b" t="t" l="l"/>
            <a:pathLst>
              <a:path h="4476555" w="12836001">
                <a:moveTo>
                  <a:pt x="0" y="0"/>
                </a:moveTo>
                <a:lnTo>
                  <a:pt x="12836001" y="0"/>
                </a:lnTo>
                <a:lnTo>
                  <a:pt x="12836001" y="4476555"/>
                </a:lnTo>
                <a:lnTo>
                  <a:pt x="0" y="4476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Modelo de Regresión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 objetivo: thalach (frecuencia cardíaca máxima)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1737360"/>
            <a:ext cx="17190720" cy="877824"/>
            <a:chOff x="0" y="0"/>
            <a:chExt cx="22920960" cy="11704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920961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EBF4F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1773936"/>
            <a:ext cx="16459200" cy="731520"/>
            <a:chOff x="0" y="0"/>
            <a:chExt cx="219456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2E86A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Por cada año de edad adicional, la frecuencia cardíaca máxima disminuye ~1 latido/min — correlación negativa significativa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710160" y="2834640"/>
            <a:ext cx="5212080" cy="6858000"/>
            <a:chOff x="0" y="0"/>
            <a:chExt cx="6949440" cy="9144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9440" cy="9144000"/>
            </a:xfrm>
            <a:custGeom>
              <a:avLst/>
              <a:gdLst/>
              <a:ahLst/>
              <a:cxnLst/>
              <a:rect r="r" b="b" t="t" l="l"/>
              <a:pathLst>
                <a:path h="91440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710160" y="2834640"/>
            <a:ext cx="5212080" cy="109728"/>
            <a:chOff x="0" y="0"/>
            <a:chExt cx="6949440" cy="1463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9440" cy="146304"/>
            </a:xfrm>
            <a:custGeom>
              <a:avLst/>
              <a:gdLst/>
              <a:ahLst/>
              <a:cxnLst/>
              <a:rect r="r" b="b" t="t" l="l"/>
              <a:pathLst>
                <a:path h="14630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893040" y="2980944"/>
            <a:ext cx="4846320" cy="585216"/>
            <a:chOff x="0" y="0"/>
            <a:chExt cx="6461760" cy="780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61760" cy="780288"/>
            </a:xfrm>
            <a:custGeom>
              <a:avLst/>
              <a:gdLst/>
              <a:ahLst/>
              <a:cxnLst/>
              <a:rect r="r" b="b" t="t" l="l"/>
              <a:pathLst>
                <a:path h="780288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360" r="0" b="-1113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46176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Modelos Comparados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893040" y="3749040"/>
            <a:ext cx="4846320" cy="1645920"/>
            <a:chOff x="0" y="0"/>
            <a:chExt cx="6461760" cy="21945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61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075920" y="3895344"/>
            <a:ext cx="4480560" cy="548640"/>
            <a:chOff x="0" y="0"/>
            <a:chExt cx="597408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7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974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Linear Reg.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75920" y="4517136"/>
            <a:ext cx="4480560" cy="548640"/>
            <a:chOff x="0" y="0"/>
            <a:chExt cx="597408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7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974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R²≈0.432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893040" y="5669280"/>
            <a:ext cx="4846320" cy="1645920"/>
            <a:chOff x="0" y="0"/>
            <a:chExt cx="6461760" cy="2194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61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8F9F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075920" y="5815584"/>
            <a:ext cx="4480560" cy="548640"/>
            <a:chOff x="0" y="0"/>
            <a:chExt cx="597408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7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974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2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Ridge Reg.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075920" y="6437376"/>
            <a:ext cx="4480560" cy="548640"/>
            <a:chOff x="0" y="0"/>
            <a:chExt cx="597408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97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974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R²≈0.432 ·  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893040" y="7589520"/>
            <a:ext cx="4846320" cy="1645920"/>
            <a:chOff x="0" y="0"/>
            <a:chExt cx="6461760" cy="21945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61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075920" y="7735824"/>
            <a:ext cx="4480560" cy="548640"/>
            <a:chOff x="0" y="0"/>
            <a:chExt cx="597408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97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5974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0D1B2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DT Regressor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075920" y="8357616"/>
            <a:ext cx="4480560" cy="548640"/>
            <a:chOff x="0" y="0"/>
            <a:chExt cx="597408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7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974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R²≈0.058  ·  MAE=18.4 latidos/min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3949198" y="6660327"/>
            <a:ext cx="5085359" cy="3248273"/>
          </a:xfrm>
          <a:custGeom>
            <a:avLst/>
            <a:gdLst/>
            <a:ahLst/>
            <a:cxnLst/>
            <a:rect r="r" b="b" t="t" l="l"/>
            <a:pathLst>
              <a:path h="3248273" w="5085359">
                <a:moveTo>
                  <a:pt x="0" y="0"/>
                </a:moveTo>
                <a:lnTo>
                  <a:pt x="5085359" y="0"/>
                </a:lnTo>
                <a:lnTo>
                  <a:pt x="5085359" y="3248274"/>
                </a:lnTo>
                <a:lnTo>
                  <a:pt x="0" y="3248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028700" y="2846707"/>
            <a:ext cx="11301259" cy="3517517"/>
          </a:xfrm>
          <a:custGeom>
            <a:avLst/>
            <a:gdLst/>
            <a:ahLst/>
            <a:cxnLst/>
            <a:rect r="r" b="b" t="t" l="l"/>
            <a:pathLst>
              <a:path h="3517517" w="11301259">
                <a:moveTo>
                  <a:pt x="0" y="0"/>
                </a:moveTo>
                <a:lnTo>
                  <a:pt x="11301259" y="0"/>
                </a:lnTo>
                <a:lnTo>
                  <a:pt x="11301259" y="3517517"/>
                </a:lnTo>
                <a:lnTo>
                  <a:pt x="0" y="3517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6304" cy="10287000"/>
            <a:chOff x="0" y="0"/>
            <a:chExt cx="19507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2194560"/>
            <a:ext cx="3657600" cy="2743200"/>
            <a:chOff x="0" y="0"/>
            <a:chExt cx="4876800" cy="365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6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876800" cy="366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4114800"/>
            <a:ext cx="17373600" cy="1645920"/>
            <a:chOff x="0" y="0"/>
            <a:chExt cx="231648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64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316480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Deep Learning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5394960"/>
            <a:ext cx="16459200" cy="822960"/>
            <a:chOff x="0" y="0"/>
            <a:chExt cx="219456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0CD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DNN1 Baseline · DNN2 Profunda + BN · Ablation Study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Deep Learning — DNN1 vs DNN2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Dos arquitecturas comparadas sobre datos de enfermedad cardíaca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1645920"/>
            <a:ext cx="16710660" cy="8321040"/>
            <a:chOff x="0" y="0"/>
            <a:chExt cx="22280880" cy="11094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8088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1645920"/>
            <a:ext cx="16710660" cy="109728"/>
            <a:chOff x="0" y="0"/>
            <a:chExt cx="22280880" cy="1463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280880" cy="146304"/>
            </a:xfrm>
            <a:custGeom>
              <a:avLst/>
              <a:gdLst/>
              <a:ahLst/>
              <a:cxnLst/>
              <a:rect r="r" b="b" t="t" l="l"/>
              <a:pathLst>
                <a:path h="146304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9988" y="1810512"/>
            <a:ext cx="15967964" cy="585216"/>
            <a:chOff x="0" y="0"/>
            <a:chExt cx="21290619" cy="780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290618" cy="780288"/>
            </a:xfrm>
            <a:custGeom>
              <a:avLst/>
              <a:gdLst/>
              <a:ahLst/>
              <a:cxnLst/>
              <a:rect r="r" b="b" t="t" l="l"/>
              <a:pathLst>
                <a:path h="780288" w="21290618">
                  <a:moveTo>
                    <a:pt x="0" y="0"/>
                  </a:moveTo>
                  <a:lnTo>
                    <a:pt x="21290618" y="0"/>
                  </a:lnTo>
                  <a:lnTo>
                    <a:pt x="2129061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50752" b="-2118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290619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DNN1 — Red Simple (Baseline)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9988" y="2450592"/>
            <a:ext cx="15967964" cy="768096"/>
            <a:chOff x="0" y="0"/>
            <a:chExt cx="21290619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290618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290618">
                  <a:moveTo>
                    <a:pt x="0" y="0"/>
                  </a:moveTo>
                  <a:lnTo>
                    <a:pt x="21290618" y="0"/>
                  </a:lnTo>
                  <a:lnTo>
                    <a:pt x="2129061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489" r="50752" b="-14948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290619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A5568"/>
                  </a:solidFill>
                  <a:latin typeface="Consolas"/>
                  <a:ea typeface="Consolas"/>
                  <a:cs typeface="Consolas"/>
                  <a:sym typeface="Consolas"/>
                </a:rPr>
                <a:t>Input → Dense(64,ReLU) → Dropout(0.3) → Dense(32,ReLU) → Dense(1,Sigmoid)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9988" y="3328416"/>
            <a:ext cx="3527806" cy="1243584"/>
            <a:chOff x="0" y="0"/>
            <a:chExt cx="4703741" cy="16581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03741" cy="1658112"/>
            </a:xfrm>
            <a:custGeom>
              <a:avLst/>
              <a:gdLst/>
              <a:ahLst/>
              <a:cxnLst/>
              <a:rect r="r" b="b" t="t" l="l"/>
              <a:pathLst>
                <a:path h="1658112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9988" y="3328416"/>
            <a:ext cx="3527806" cy="128016"/>
            <a:chOff x="0" y="0"/>
            <a:chExt cx="4703741" cy="1706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03741" cy="170688"/>
            </a:xfrm>
            <a:custGeom>
              <a:avLst/>
              <a:gdLst/>
              <a:ahLst/>
              <a:cxnLst/>
              <a:rect r="r" b="b" t="t" l="l"/>
              <a:pathLst>
                <a:path h="170688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9988" y="3517248"/>
            <a:ext cx="3527806" cy="817637"/>
            <a:chOff x="0" y="0"/>
            <a:chExt cx="4703741" cy="10901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03741" cy="1090186"/>
            </a:xfrm>
            <a:custGeom>
              <a:avLst/>
              <a:gdLst/>
              <a:ahLst/>
              <a:cxnLst/>
              <a:rect r="r" b="b" t="t" l="l"/>
              <a:pathLst>
                <a:path h="1090186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090186"/>
                  </a:lnTo>
                  <a:lnTo>
                    <a:pt x="0" y="10901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" r="50752" b="1905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703741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77</a:t>
              </a:r>
              <a:r>
                <a:rPr lang="en-US" sz="44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9988" y="4136745"/>
            <a:ext cx="3527806" cy="397946"/>
            <a:chOff x="0" y="0"/>
            <a:chExt cx="4703741" cy="5305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03741" cy="530596"/>
            </a:xfrm>
            <a:custGeom>
              <a:avLst/>
              <a:gdLst/>
              <a:ahLst/>
              <a:cxnLst/>
              <a:rect r="r" b="b" t="t" l="l"/>
              <a:pathLst>
                <a:path h="530596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530596"/>
                  </a:lnTo>
                  <a:lnTo>
                    <a:pt x="0" y="5305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68" r="50752" b="-3506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703741" cy="568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633468" y="3328416"/>
            <a:ext cx="3527806" cy="1243584"/>
            <a:chOff x="0" y="0"/>
            <a:chExt cx="4703741" cy="16581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03741" cy="1658112"/>
            </a:xfrm>
            <a:custGeom>
              <a:avLst/>
              <a:gdLst/>
              <a:ahLst/>
              <a:cxnLst/>
              <a:rect r="r" b="b" t="t" l="l"/>
              <a:pathLst>
                <a:path h="1658112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633468" y="3328416"/>
            <a:ext cx="3527806" cy="128016"/>
            <a:chOff x="0" y="0"/>
            <a:chExt cx="4703741" cy="1706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03741" cy="170688"/>
            </a:xfrm>
            <a:custGeom>
              <a:avLst/>
              <a:gdLst/>
              <a:ahLst/>
              <a:cxnLst/>
              <a:rect r="r" b="b" t="t" l="l"/>
              <a:pathLst>
                <a:path h="170688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633468" y="3517248"/>
            <a:ext cx="3527806" cy="817637"/>
            <a:chOff x="0" y="0"/>
            <a:chExt cx="4703741" cy="10901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03741" cy="1090186"/>
            </a:xfrm>
            <a:custGeom>
              <a:avLst/>
              <a:gdLst/>
              <a:ahLst/>
              <a:cxnLst/>
              <a:rect r="r" b="b" t="t" l="l"/>
              <a:pathLst>
                <a:path h="1090186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090186"/>
                  </a:lnTo>
                  <a:lnTo>
                    <a:pt x="0" y="10901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" r="50752" b="1905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4703741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74.4</a:t>
              </a:r>
              <a:r>
                <a:rPr lang="en-US" sz="44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633468" y="4136745"/>
            <a:ext cx="3527806" cy="397946"/>
            <a:chOff x="0" y="0"/>
            <a:chExt cx="4703741" cy="5305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03741" cy="530596"/>
            </a:xfrm>
            <a:custGeom>
              <a:avLst/>
              <a:gdLst/>
              <a:ahLst/>
              <a:cxnLst/>
              <a:rect r="r" b="b" t="t" l="l"/>
              <a:pathLst>
                <a:path h="530596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530596"/>
                  </a:lnTo>
                  <a:lnTo>
                    <a:pt x="0" y="5305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68" r="50752" b="-3506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703741" cy="568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346948" y="3328416"/>
            <a:ext cx="3527806" cy="1243584"/>
            <a:chOff x="0" y="0"/>
            <a:chExt cx="4703741" cy="16581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03741" cy="1658112"/>
            </a:xfrm>
            <a:custGeom>
              <a:avLst/>
              <a:gdLst/>
              <a:ahLst/>
              <a:cxnLst/>
              <a:rect r="r" b="b" t="t" l="l"/>
              <a:pathLst>
                <a:path h="1658112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346948" y="3328416"/>
            <a:ext cx="3527806" cy="128016"/>
            <a:chOff x="0" y="0"/>
            <a:chExt cx="4703741" cy="1706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03741" cy="170688"/>
            </a:xfrm>
            <a:custGeom>
              <a:avLst/>
              <a:gdLst/>
              <a:ahLst/>
              <a:cxnLst/>
              <a:rect r="r" b="b" t="t" l="l"/>
              <a:pathLst>
                <a:path h="170688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346948" y="3517248"/>
            <a:ext cx="3527806" cy="817637"/>
            <a:chOff x="0" y="0"/>
            <a:chExt cx="4703741" cy="10901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03741" cy="1090186"/>
            </a:xfrm>
            <a:custGeom>
              <a:avLst/>
              <a:gdLst/>
              <a:ahLst/>
              <a:cxnLst/>
              <a:rect r="r" b="b" t="t" l="l"/>
              <a:pathLst>
                <a:path h="1090186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090186"/>
                  </a:lnTo>
                  <a:lnTo>
                    <a:pt x="0" y="10901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" r="50752" b="1905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703741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87.9</a:t>
              </a:r>
              <a:r>
                <a:rPr lang="en-US" sz="44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346948" y="4136745"/>
            <a:ext cx="3527806" cy="397946"/>
            <a:chOff x="0" y="0"/>
            <a:chExt cx="4703741" cy="53059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03741" cy="530596"/>
            </a:xfrm>
            <a:custGeom>
              <a:avLst/>
              <a:gdLst/>
              <a:ahLst/>
              <a:cxnLst/>
              <a:rect r="r" b="b" t="t" l="l"/>
              <a:pathLst>
                <a:path h="530596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530596"/>
                  </a:lnTo>
                  <a:lnTo>
                    <a:pt x="0" y="5305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68" r="50752" b="-3506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703741" cy="568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060428" y="3328416"/>
            <a:ext cx="3527806" cy="1243584"/>
            <a:chOff x="0" y="0"/>
            <a:chExt cx="4703741" cy="16581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703741" cy="1658112"/>
            </a:xfrm>
            <a:custGeom>
              <a:avLst/>
              <a:gdLst/>
              <a:ahLst/>
              <a:cxnLst/>
              <a:rect r="r" b="b" t="t" l="l"/>
              <a:pathLst>
                <a:path h="1658112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060428" y="3328416"/>
            <a:ext cx="3527806" cy="128016"/>
            <a:chOff x="0" y="0"/>
            <a:chExt cx="4703741" cy="1706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703741" cy="170688"/>
            </a:xfrm>
            <a:custGeom>
              <a:avLst/>
              <a:gdLst/>
              <a:ahLst/>
              <a:cxnLst/>
              <a:rect r="r" b="b" t="t" l="l"/>
              <a:pathLst>
                <a:path h="170688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060428" y="3517248"/>
            <a:ext cx="3527806" cy="817637"/>
            <a:chOff x="0" y="0"/>
            <a:chExt cx="4703741" cy="109018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03741" cy="1090186"/>
            </a:xfrm>
            <a:custGeom>
              <a:avLst/>
              <a:gdLst/>
              <a:ahLst/>
              <a:cxnLst/>
              <a:rect r="r" b="b" t="t" l="l"/>
              <a:pathLst>
                <a:path h="1090186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1090186"/>
                  </a:lnTo>
                  <a:lnTo>
                    <a:pt x="0" y="10901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" r="50752" b="1905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4703741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80.6</a:t>
              </a:r>
              <a:r>
                <a:rPr lang="en-US" sz="44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060428" y="4136745"/>
            <a:ext cx="3527806" cy="397946"/>
            <a:chOff x="0" y="0"/>
            <a:chExt cx="4703741" cy="53059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03741" cy="530596"/>
            </a:xfrm>
            <a:custGeom>
              <a:avLst/>
              <a:gdLst/>
              <a:ahLst/>
              <a:cxnLst/>
              <a:rect r="r" b="b" t="t" l="l"/>
              <a:pathLst>
                <a:path h="530596" w="4703741">
                  <a:moveTo>
                    <a:pt x="0" y="0"/>
                  </a:moveTo>
                  <a:lnTo>
                    <a:pt x="4703741" y="0"/>
                  </a:lnTo>
                  <a:lnTo>
                    <a:pt x="4703741" y="530596"/>
                  </a:lnTo>
                  <a:lnTo>
                    <a:pt x="0" y="5305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68" r="50752" b="-3506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703741" cy="568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F1-Score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1653061" y="4972050"/>
            <a:ext cx="14250357" cy="4610630"/>
          </a:xfrm>
          <a:custGeom>
            <a:avLst/>
            <a:gdLst/>
            <a:ahLst/>
            <a:cxnLst/>
            <a:rect r="r" b="b" t="t" l="l"/>
            <a:pathLst>
              <a:path h="4610630" w="14250357">
                <a:moveTo>
                  <a:pt x="0" y="0"/>
                </a:moveTo>
                <a:lnTo>
                  <a:pt x="14250358" y="0"/>
                </a:lnTo>
                <a:lnTo>
                  <a:pt x="14250358" y="4610630"/>
                </a:lnTo>
                <a:lnTo>
                  <a:pt x="0" y="4610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36" r="0" b="-2736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Deep Learning — DNN1 vs DNN2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Dos arquitecturas comparadas sobre datos de enfermedad cardíaca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93776" y="1645920"/>
            <a:ext cx="17245584" cy="8321040"/>
            <a:chOff x="0" y="0"/>
            <a:chExt cx="22994112" cy="11094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994113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22994113">
                  <a:moveTo>
                    <a:pt x="0" y="0"/>
                  </a:moveTo>
                  <a:lnTo>
                    <a:pt x="22994113" y="0"/>
                  </a:lnTo>
                  <a:lnTo>
                    <a:pt x="22994113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93776" y="1645920"/>
            <a:ext cx="17245584" cy="109728"/>
            <a:chOff x="0" y="0"/>
            <a:chExt cx="22994112" cy="1463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94113" cy="146304"/>
            </a:xfrm>
            <a:custGeom>
              <a:avLst/>
              <a:gdLst/>
              <a:ahLst/>
              <a:cxnLst/>
              <a:rect r="r" b="b" t="t" l="l"/>
              <a:pathLst>
                <a:path h="146304" w="22994113">
                  <a:moveTo>
                    <a:pt x="0" y="0"/>
                  </a:moveTo>
                  <a:lnTo>
                    <a:pt x="22994113" y="0"/>
                  </a:lnTo>
                  <a:lnTo>
                    <a:pt x="22994113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60703" y="1810512"/>
            <a:ext cx="16511729" cy="585216"/>
            <a:chOff x="0" y="0"/>
            <a:chExt cx="22015639" cy="780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015639" cy="780288"/>
            </a:xfrm>
            <a:custGeom>
              <a:avLst/>
              <a:gdLst/>
              <a:ahLst/>
              <a:cxnLst/>
              <a:rect r="r" b="b" t="t" l="l"/>
              <a:pathLst>
                <a:path h="780288" w="22015639">
                  <a:moveTo>
                    <a:pt x="0" y="0"/>
                  </a:moveTo>
                  <a:lnTo>
                    <a:pt x="22015639" y="0"/>
                  </a:lnTo>
                  <a:lnTo>
                    <a:pt x="220156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50159" b="-22400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2015639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E44A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DNN2 — Profunda + BatchNorm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60703" y="2450592"/>
            <a:ext cx="16511729" cy="768096"/>
            <a:chOff x="0" y="0"/>
            <a:chExt cx="22015639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015639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015639">
                  <a:moveTo>
                    <a:pt x="0" y="0"/>
                  </a:moveTo>
                  <a:lnTo>
                    <a:pt x="22015639" y="0"/>
                  </a:lnTo>
                  <a:lnTo>
                    <a:pt x="22015639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50159" b="-15876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015639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A5568"/>
                  </a:solidFill>
                  <a:latin typeface="Consolas"/>
                  <a:ea typeface="Consolas"/>
                  <a:cs typeface="Consolas"/>
                  <a:sym typeface="Consolas"/>
                </a:rPr>
                <a:t>Input → Dense(128,ReLU,L2) → BN → Dropout(0.4) → Dense(64,ReLU,L2) → …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60703" y="3328416"/>
            <a:ext cx="3595888" cy="1243584"/>
            <a:chOff x="0" y="0"/>
            <a:chExt cx="4794517" cy="16581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94517" cy="1658112"/>
            </a:xfrm>
            <a:custGeom>
              <a:avLst/>
              <a:gdLst/>
              <a:ahLst/>
              <a:cxnLst/>
              <a:rect r="r" b="b" t="t" l="l"/>
              <a:pathLst>
                <a:path h="1658112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60703" y="3328416"/>
            <a:ext cx="3595888" cy="128016"/>
            <a:chOff x="0" y="0"/>
            <a:chExt cx="4794517" cy="1706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94517" cy="170688"/>
            </a:xfrm>
            <a:custGeom>
              <a:avLst/>
              <a:gdLst/>
              <a:ahLst/>
              <a:cxnLst/>
              <a:rect r="r" b="b" t="t" l="l"/>
              <a:pathLst>
                <a:path h="170688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60703" y="3517248"/>
            <a:ext cx="3595888" cy="817637"/>
            <a:chOff x="0" y="0"/>
            <a:chExt cx="4794517" cy="10901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94517" cy="1090186"/>
            </a:xfrm>
            <a:custGeom>
              <a:avLst/>
              <a:gdLst/>
              <a:ahLst/>
              <a:cxnLst/>
              <a:rect r="r" b="b" t="t" l="l"/>
              <a:pathLst>
                <a:path h="1090186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090186"/>
                  </a:lnTo>
                  <a:lnTo>
                    <a:pt x="0" y="10901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5" r="50159" b="1774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794517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8E44A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75.4</a:t>
              </a:r>
              <a:r>
                <a:rPr lang="en-US" sz="4400" b="true">
                  <a:solidFill>
                    <a:srgbClr val="8E44A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60703" y="4136745"/>
            <a:ext cx="3595888" cy="397946"/>
            <a:chOff x="0" y="0"/>
            <a:chExt cx="4794517" cy="5305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94517" cy="530596"/>
            </a:xfrm>
            <a:custGeom>
              <a:avLst/>
              <a:gdLst/>
              <a:ahLst/>
              <a:cxnLst/>
              <a:rect r="r" b="b" t="t" l="l"/>
              <a:pathLst>
                <a:path h="530596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530596"/>
                  </a:lnTo>
                  <a:lnTo>
                    <a:pt x="0" y="5305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54" r="50159" b="-377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794517" cy="568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640055" y="3328416"/>
            <a:ext cx="3595888" cy="1243584"/>
            <a:chOff x="0" y="0"/>
            <a:chExt cx="4794517" cy="16581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94517" cy="1658112"/>
            </a:xfrm>
            <a:custGeom>
              <a:avLst/>
              <a:gdLst/>
              <a:ahLst/>
              <a:cxnLst/>
              <a:rect r="r" b="b" t="t" l="l"/>
              <a:pathLst>
                <a:path h="1658112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640055" y="3328416"/>
            <a:ext cx="3595888" cy="128016"/>
            <a:chOff x="0" y="0"/>
            <a:chExt cx="4794517" cy="1706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94517" cy="170688"/>
            </a:xfrm>
            <a:custGeom>
              <a:avLst/>
              <a:gdLst/>
              <a:ahLst/>
              <a:cxnLst/>
              <a:rect r="r" b="b" t="t" l="l"/>
              <a:pathLst>
                <a:path h="170688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640055" y="3517248"/>
            <a:ext cx="3595888" cy="817637"/>
            <a:chOff x="0" y="0"/>
            <a:chExt cx="4794517" cy="10901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94517" cy="1090186"/>
            </a:xfrm>
            <a:custGeom>
              <a:avLst/>
              <a:gdLst/>
              <a:ahLst/>
              <a:cxnLst/>
              <a:rect r="r" b="b" t="t" l="l"/>
              <a:pathLst>
                <a:path h="1090186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090186"/>
                  </a:lnTo>
                  <a:lnTo>
                    <a:pt x="0" y="10901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5" r="50159" b="1774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4794517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8E44A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75.0</a:t>
              </a:r>
              <a:r>
                <a:rPr lang="en-US" sz="4400" b="true">
                  <a:solidFill>
                    <a:srgbClr val="8E44A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640055" y="4136745"/>
            <a:ext cx="3595888" cy="397946"/>
            <a:chOff x="0" y="0"/>
            <a:chExt cx="4794517" cy="5305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94517" cy="530596"/>
            </a:xfrm>
            <a:custGeom>
              <a:avLst/>
              <a:gdLst/>
              <a:ahLst/>
              <a:cxnLst/>
              <a:rect r="r" b="b" t="t" l="l"/>
              <a:pathLst>
                <a:path h="530596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530596"/>
                  </a:lnTo>
                  <a:lnTo>
                    <a:pt x="0" y="5305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54" r="50159" b="-3775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794517" cy="568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419406" y="3328416"/>
            <a:ext cx="3595888" cy="1243584"/>
            <a:chOff x="0" y="0"/>
            <a:chExt cx="4794517" cy="16581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94517" cy="1658112"/>
            </a:xfrm>
            <a:custGeom>
              <a:avLst/>
              <a:gdLst/>
              <a:ahLst/>
              <a:cxnLst/>
              <a:rect r="r" b="b" t="t" l="l"/>
              <a:pathLst>
                <a:path h="1658112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419406" y="3328416"/>
            <a:ext cx="3595888" cy="128016"/>
            <a:chOff x="0" y="0"/>
            <a:chExt cx="4794517" cy="1706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94517" cy="170688"/>
            </a:xfrm>
            <a:custGeom>
              <a:avLst/>
              <a:gdLst/>
              <a:ahLst/>
              <a:cxnLst/>
              <a:rect r="r" b="b" t="t" l="l"/>
              <a:pathLst>
                <a:path h="170688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419406" y="3517248"/>
            <a:ext cx="3595888" cy="817637"/>
            <a:chOff x="0" y="0"/>
            <a:chExt cx="4794517" cy="10901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94517" cy="1090186"/>
            </a:xfrm>
            <a:custGeom>
              <a:avLst/>
              <a:gdLst/>
              <a:ahLst/>
              <a:cxnLst/>
              <a:rect r="r" b="b" t="t" l="l"/>
              <a:pathLst>
                <a:path h="1090186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090186"/>
                  </a:lnTo>
                  <a:lnTo>
                    <a:pt x="0" y="10901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5" r="50159" b="1774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4794517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8E44A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81.8</a:t>
              </a:r>
              <a:r>
                <a:rPr lang="en-US" sz="4400" b="true">
                  <a:solidFill>
                    <a:srgbClr val="8E44A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419406" y="4136745"/>
            <a:ext cx="3595888" cy="397946"/>
            <a:chOff x="0" y="0"/>
            <a:chExt cx="4794517" cy="53059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94517" cy="530596"/>
            </a:xfrm>
            <a:custGeom>
              <a:avLst/>
              <a:gdLst/>
              <a:ahLst/>
              <a:cxnLst/>
              <a:rect r="r" b="b" t="t" l="l"/>
              <a:pathLst>
                <a:path h="530596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530596"/>
                  </a:lnTo>
                  <a:lnTo>
                    <a:pt x="0" y="5305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54" r="50159" b="-3775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794517" cy="568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198757" y="3328416"/>
            <a:ext cx="3595888" cy="1243584"/>
            <a:chOff x="0" y="0"/>
            <a:chExt cx="4794517" cy="165811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794517" cy="1658112"/>
            </a:xfrm>
            <a:custGeom>
              <a:avLst/>
              <a:gdLst/>
              <a:ahLst/>
              <a:cxnLst/>
              <a:rect r="r" b="b" t="t" l="l"/>
              <a:pathLst>
                <a:path h="1658112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198757" y="3328416"/>
            <a:ext cx="3595888" cy="128016"/>
            <a:chOff x="0" y="0"/>
            <a:chExt cx="4794517" cy="1706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794517" cy="170688"/>
            </a:xfrm>
            <a:custGeom>
              <a:avLst/>
              <a:gdLst/>
              <a:ahLst/>
              <a:cxnLst/>
              <a:rect r="r" b="b" t="t" l="l"/>
              <a:pathLst>
                <a:path h="170688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198757" y="3517248"/>
            <a:ext cx="3595888" cy="817637"/>
            <a:chOff x="0" y="0"/>
            <a:chExt cx="4794517" cy="109018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94517" cy="1090186"/>
            </a:xfrm>
            <a:custGeom>
              <a:avLst/>
              <a:gdLst/>
              <a:ahLst/>
              <a:cxnLst/>
              <a:rect r="r" b="b" t="t" l="l"/>
              <a:pathLst>
                <a:path h="1090186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1090186"/>
                  </a:lnTo>
                  <a:lnTo>
                    <a:pt x="0" y="10901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5" r="50159" b="1774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4794517" cy="1099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8E44A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78.3</a:t>
              </a:r>
              <a:r>
                <a:rPr lang="en-US" sz="4400" b="true">
                  <a:solidFill>
                    <a:srgbClr val="8E44A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198757" y="4136745"/>
            <a:ext cx="3595888" cy="397946"/>
            <a:chOff x="0" y="0"/>
            <a:chExt cx="4794517" cy="53059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94517" cy="530596"/>
            </a:xfrm>
            <a:custGeom>
              <a:avLst/>
              <a:gdLst/>
              <a:ahLst/>
              <a:cxnLst/>
              <a:rect r="r" b="b" t="t" l="l"/>
              <a:pathLst>
                <a:path h="530596" w="4794517">
                  <a:moveTo>
                    <a:pt x="0" y="0"/>
                  </a:moveTo>
                  <a:lnTo>
                    <a:pt x="4794517" y="0"/>
                  </a:lnTo>
                  <a:lnTo>
                    <a:pt x="4794517" y="530596"/>
                  </a:lnTo>
                  <a:lnTo>
                    <a:pt x="0" y="5305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54" r="50159" b="-3775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794517" cy="568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F1-Score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2342045" y="5267325"/>
            <a:ext cx="12872390" cy="4360522"/>
          </a:xfrm>
          <a:custGeom>
            <a:avLst/>
            <a:gdLst/>
            <a:ahLst/>
            <a:cxnLst/>
            <a:rect r="r" b="b" t="t" l="l"/>
            <a:pathLst>
              <a:path h="4360522" w="12872390">
                <a:moveTo>
                  <a:pt x="0" y="0"/>
                </a:moveTo>
                <a:lnTo>
                  <a:pt x="12872390" y="0"/>
                </a:lnTo>
                <a:lnTo>
                  <a:pt x="12872390" y="4360522"/>
                </a:lnTo>
                <a:lnTo>
                  <a:pt x="0" y="4360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Deep Learning — Comparación y Ablation Study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ROC, variación de neuronas, activaciones y optimizadores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0132" y="7172312"/>
            <a:ext cx="10789920" cy="548640"/>
            <a:chOff x="0" y="0"/>
            <a:chExt cx="143865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43865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Hallazgos clave: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0132" y="7775816"/>
            <a:ext cx="10789920" cy="2194560"/>
            <a:chOff x="0" y="0"/>
            <a:chExt cx="14386560" cy="2926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386561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01" r="0" b="-4580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38656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DNN1 (baseline simple) supera a DNN2 en F1-Score global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BN + Dropout + L2 mejoran la generalización pero no las métricas en este dataset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Adam lr=0.001 es el optimizador con mejor trade-off velocidad/calidad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 DNN son competitivas con RF/SVM pero más difíciles de interpretar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12200" y="1469555"/>
            <a:ext cx="6035040" cy="548640"/>
            <a:chOff x="0" y="0"/>
            <a:chExt cx="80467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046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Curvas DNN1 (entrenamiento vs validación)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897001" y="2191962"/>
            <a:ext cx="11470606" cy="3885668"/>
          </a:xfrm>
          <a:custGeom>
            <a:avLst/>
            <a:gdLst/>
            <a:ahLst/>
            <a:cxnLst/>
            <a:rect r="r" b="b" t="t" l="l"/>
            <a:pathLst>
              <a:path h="3885668" w="11470606">
                <a:moveTo>
                  <a:pt x="0" y="0"/>
                </a:moveTo>
                <a:lnTo>
                  <a:pt x="11470606" y="0"/>
                </a:lnTo>
                <a:lnTo>
                  <a:pt x="11470606" y="3885668"/>
                </a:lnTo>
                <a:lnTo>
                  <a:pt x="0" y="3885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93776" y="2075345"/>
            <a:ext cx="5918424" cy="4534992"/>
          </a:xfrm>
          <a:custGeom>
            <a:avLst/>
            <a:gdLst/>
            <a:ahLst/>
            <a:cxnLst/>
            <a:rect r="r" b="b" t="t" l="l"/>
            <a:pathLst>
              <a:path h="4534992" w="5918424">
                <a:moveTo>
                  <a:pt x="0" y="0"/>
                </a:moveTo>
                <a:lnTo>
                  <a:pt x="5918424" y="0"/>
                </a:lnTo>
                <a:lnTo>
                  <a:pt x="5918424" y="4534992"/>
                </a:lnTo>
                <a:lnTo>
                  <a:pt x="0" y="45349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6304" cy="10287000"/>
            <a:chOff x="0" y="0"/>
            <a:chExt cx="19507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2194560"/>
            <a:ext cx="3657600" cy="2743200"/>
            <a:chOff x="0" y="0"/>
            <a:chExt cx="4876800" cy="365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6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876800" cy="366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3657600"/>
            <a:ext cx="17373600" cy="1645920"/>
            <a:chOff x="0" y="0"/>
            <a:chExt cx="231648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64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316480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Aprendizaje No Supervisado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5394960"/>
            <a:ext cx="16459200" cy="822960"/>
            <a:chOff x="0" y="0"/>
            <a:chExt cx="219456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0CD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K-Means · DBSCAN · Agglomerative Clustering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No Supervisado — Método del Codo y K-Means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Selección de K óptimo y análisis de clusters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32720" y="1645920"/>
            <a:ext cx="7406640" cy="8229600"/>
            <a:chOff x="0" y="0"/>
            <a:chExt cx="9875520" cy="1097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7552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332720" y="1645920"/>
            <a:ext cx="7406640" cy="109728"/>
            <a:chOff x="0" y="0"/>
            <a:chExt cx="9875520" cy="1463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75520" cy="146304"/>
            </a:xfrm>
            <a:custGeom>
              <a:avLst/>
              <a:gdLst/>
              <a:ahLst/>
              <a:cxnLst/>
              <a:rect r="r" b="b" t="t" l="l"/>
              <a:pathLst>
                <a:path h="14630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515600" y="1810512"/>
            <a:ext cx="7040880" cy="585216"/>
            <a:chOff x="0" y="0"/>
            <a:chExt cx="9387840" cy="780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87840" cy="780288"/>
            </a:xfrm>
            <a:custGeom>
              <a:avLst/>
              <a:gdLst/>
              <a:ahLst/>
              <a:cxnLst/>
              <a:rect r="r" b="b" t="t" l="l"/>
              <a:pathLst>
                <a:path h="7802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429" r="0" b="-18442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387840" cy="789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Comparación de Métodos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98480" y="2795778"/>
            <a:ext cx="7040880" cy="512064"/>
            <a:chOff x="0" y="0"/>
            <a:chExt cx="938784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87840" cy="682752"/>
            </a:xfrm>
            <a:custGeom>
              <a:avLst/>
              <a:gdLst/>
              <a:ahLst/>
              <a:cxnLst/>
              <a:rect r="r" b="b" t="t" l="l"/>
              <a:pathLst>
                <a:path h="68275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38784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Análisis: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45236" y="3307842"/>
            <a:ext cx="7040880" cy="5286662"/>
            <a:chOff x="0" y="0"/>
            <a:chExt cx="9387840" cy="70488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87840" cy="7048883"/>
            </a:xfrm>
            <a:custGeom>
              <a:avLst/>
              <a:gdLst/>
              <a:ahLst/>
              <a:cxnLst/>
              <a:rect r="r" b="b" t="t" l="l"/>
              <a:pathLst>
                <a:path h="7048883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048883"/>
                  </a:lnTo>
                  <a:lnTo>
                    <a:pt x="0" y="704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314" t="0" r="-33314" b="1351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387840" cy="708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</a:p>
            <a:p>
              <a:pPr algn="l" marL="458228" indent="-229114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K-Óptimo (K=6): El Método del Codo (distorsión/inercia) y el Análisis de Silhouette coinciden en que K=6 es la estructura más robusta, superando el máximo local inicial de K=2.</a:t>
              </a:r>
            </a:p>
            <a:p>
              <a:pPr algn="l" marL="458228" indent="-229114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Comparación Visual: K-Means y Agglomerative Clustering logran capturar correctamente la dispersión de los datos en la proyección PCA 2D, mientras que DBSCAN falla debido a la baja densidad.</a:t>
              </a:r>
            </a:p>
            <a:p>
              <a:pPr algn="l" marL="458228" indent="-229114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Métrica ARI: El valor de ARI cercano a 0 confirma que los clusters no replican la etiqueta médica directamente, un comportamiento esperado en este análisis no supervisado.</a:t>
              </a:r>
            </a:p>
            <a:p>
              <a:pPr algn="l">
                <a:lnSpc>
                  <a:spcPts val="228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239976" y="2016252"/>
            <a:ext cx="9824239" cy="3291120"/>
          </a:xfrm>
          <a:custGeom>
            <a:avLst/>
            <a:gdLst/>
            <a:ahLst/>
            <a:cxnLst/>
            <a:rect r="r" b="b" t="t" l="l"/>
            <a:pathLst>
              <a:path h="3291120" w="9824239">
                <a:moveTo>
                  <a:pt x="0" y="0"/>
                </a:moveTo>
                <a:lnTo>
                  <a:pt x="9824239" y="0"/>
                </a:lnTo>
                <a:lnTo>
                  <a:pt x="9824239" y="3291120"/>
                </a:lnTo>
                <a:lnTo>
                  <a:pt x="0" y="3291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39976" y="6035896"/>
            <a:ext cx="9936341" cy="2558608"/>
          </a:xfrm>
          <a:custGeom>
            <a:avLst/>
            <a:gdLst/>
            <a:ahLst/>
            <a:cxnLst/>
            <a:rect r="r" b="b" t="t" l="l"/>
            <a:pathLst>
              <a:path h="2558608" w="9936341">
                <a:moveTo>
                  <a:pt x="0" y="0"/>
                </a:moveTo>
                <a:lnTo>
                  <a:pt x="9936341" y="0"/>
                </a:lnTo>
                <a:lnTo>
                  <a:pt x="9936341" y="2558608"/>
                </a:lnTo>
                <a:lnTo>
                  <a:pt x="0" y="2558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6304" cy="10287000"/>
            <a:chOff x="0" y="0"/>
            <a:chExt cx="19507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2194560"/>
            <a:ext cx="3657600" cy="2743200"/>
            <a:chOff x="0" y="0"/>
            <a:chExt cx="4876800" cy="365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6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876800" cy="366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48640" y="4114800"/>
            <a:ext cx="17373600" cy="1645920"/>
            <a:chOff x="0" y="0"/>
            <a:chExt cx="231648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64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316480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Reducción de Dimensionalidad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8640" y="5394960"/>
            <a:ext cx="16459200" cy="822960"/>
            <a:chOff x="0" y="0"/>
            <a:chExt cx="219456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90CD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PCA · t-SNE · Visualización 2D y 3D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7200" y="329184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Reducción de Dimensionalidad — PCA y t-SNE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Proyecciones 2D y 3D de los datos de enfermedad cardíaca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22323" y="3040380"/>
            <a:ext cx="3200400" cy="4206240"/>
            <a:chOff x="0" y="0"/>
            <a:chExt cx="4267200" cy="5608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67200" cy="5608320"/>
            </a:xfrm>
            <a:custGeom>
              <a:avLst/>
              <a:gdLst/>
              <a:ahLst/>
              <a:cxnLst/>
              <a:rect r="r" b="b" t="t" l="l"/>
              <a:pathLst>
                <a:path h="56083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222323" y="3040380"/>
            <a:ext cx="3200400" cy="109728"/>
            <a:chOff x="0" y="0"/>
            <a:chExt cx="4267200" cy="1463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67200" cy="146304"/>
            </a:xfrm>
            <a:custGeom>
              <a:avLst/>
              <a:gdLst/>
              <a:ahLst/>
              <a:cxnLst/>
              <a:rect r="r" b="b" t="t" l="l"/>
              <a:pathLst>
                <a:path h="14630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405203" y="3186684"/>
            <a:ext cx="2834640" cy="512064"/>
            <a:chOff x="0" y="0"/>
            <a:chExt cx="377952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77952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Insights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405203" y="3771900"/>
            <a:ext cx="2834640" cy="3200400"/>
            <a:chOff x="0" y="0"/>
            <a:chExt cx="3779520" cy="4267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79520" cy="4267200"/>
            </a:xfrm>
            <a:custGeom>
              <a:avLst/>
              <a:gdLst/>
              <a:ahLst/>
              <a:cxnLst/>
              <a:rect r="r" b="b" t="t" l="l"/>
              <a:pathLst>
                <a:path h="42672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858" t="0" r="-9485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779520" cy="429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6080" indent="-193040" lvl="1">
                <a:lnSpc>
                  <a:spcPts val="1920"/>
                </a:lnSpc>
                <a:buFont typeface="Arial"/>
                <a:buChar char="•"/>
              </a:pPr>
              <a:r>
                <a:rPr lang="en-US" sz="16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  <a:r>
                <a:rPr lang="en-US" sz="16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PC explican &gt;90% varianza</a:t>
              </a:r>
            </a:p>
            <a:p>
              <a:pPr algn="l" marL="386080" indent="-193040" lvl="1">
                <a:lnSpc>
                  <a:spcPts val="1920"/>
                </a:lnSpc>
                <a:buFont typeface="Arial"/>
                <a:buChar char="•"/>
              </a:pPr>
              <a:r>
                <a:rPr lang="en-US" sz="16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t-SNE: mejor separación visual entre clases</a:t>
              </a:r>
            </a:p>
            <a:p>
              <a:pPr algn="l" marL="386080" indent="-193040" lvl="1">
                <a:lnSpc>
                  <a:spcPts val="1920"/>
                </a:lnSpc>
                <a:buFont typeface="Arial"/>
                <a:buChar char="•"/>
              </a:pPr>
              <a:r>
                <a:rPr lang="en-US" sz="16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linealidad confirmada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262543" y="1644082"/>
            <a:ext cx="9439121" cy="3881839"/>
          </a:xfrm>
          <a:custGeom>
            <a:avLst/>
            <a:gdLst/>
            <a:ahLst/>
            <a:cxnLst/>
            <a:rect r="r" b="b" t="t" l="l"/>
            <a:pathLst>
              <a:path h="3881839" w="9439121">
                <a:moveTo>
                  <a:pt x="0" y="0"/>
                </a:moveTo>
                <a:lnTo>
                  <a:pt x="9439122" y="0"/>
                </a:lnTo>
                <a:lnTo>
                  <a:pt x="9439122" y="3881839"/>
                </a:lnTo>
                <a:lnTo>
                  <a:pt x="0" y="38818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262543" y="6072723"/>
            <a:ext cx="11301259" cy="3856555"/>
          </a:xfrm>
          <a:custGeom>
            <a:avLst/>
            <a:gdLst/>
            <a:ahLst/>
            <a:cxnLst/>
            <a:rect r="r" b="b" t="t" l="l"/>
            <a:pathLst>
              <a:path h="3856555" w="11301259">
                <a:moveTo>
                  <a:pt x="0" y="0"/>
                </a:moveTo>
                <a:lnTo>
                  <a:pt x="11301259" y="0"/>
                </a:lnTo>
                <a:lnTo>
                  <a:pt x="11301259" y="3856554"/>
                </a:lnTo>
                <a:lnTo>
                  <a:pt x="0" y="38565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7200" y="329184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Reducción de Dimensionalidad — PCA y t-SNE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Proyecciones 2D y 3D de los datos de enfermedad cardíaca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76685" y="3040380"/>
            <a:ext cx="3200400" cy="6610338"/>
            <a:chOff x="0" y="0"/>
            <a:chExt cx="4267200" cy="88137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67200" cy="8813784"/>
            </a:xfrm>
            <a:custGeom>
              <a:avLst/>
              <a:gdLst/>
              <a:ahLst/>
              <a:cxnLst/>
              <a:rect r="r" b="b" t="t" l="l"/>
              <a:pathLst>
                <a:path h="881378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813784"/>
                  </a:lnTo>
                  <a:lnTo>
                    <a:pt x="0" y="88137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76685" y="3040380"/>
            <a:ext cx="3200400" cy="109728"/>
            <a:chOff x="0" y="0"/>
            <a:chExt cx="4267200" cy="1463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67200" cy="146304"/>
            </a:xfrm>
            <a:custGeom>
              <a:avLst/>
              <a:gdLst/>
              <a:ahLst/>
              <a:cxnLst/>
              <a:rect r="r" b="b" t="t" l="l"/>
              <a:pathLst>
                <a:path h="146304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959565" y="3186684"/>
            <a:ext cx="2834640" cy="512064"/>
            <a:chOff x="0" y="0"/>
            <a:chExt cx="377952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77952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Insights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959565" y="3771900"/>
            <a:ext cx="2834640" cy="5486400"/>
            <a:chOff x="0" y="0"/>
            <a:chExt cx="3779520" cy="7315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795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858" t="0" r="-94858" b="4166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779520" cy="7343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6080" indent="-193040" lvl="1">
                <a:lnSpc>
                  <a:spcPts val="1920"/>
                </a:lnSpc>
                <a:buFont typeface="Arial"/>
                <a:buChar char="•"/>
              </a:pPr>
              <a:r>
                <a:rPr lang="en-US" sz="16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 variables age, trestbps y chol empujan los datos  hacia la derecha en el PC1</a:t>
              </a:r>
            </a:p>
            <a:p>
              <a:pPr algn="l" marL="386080" indent="-193040" lvl="1">
                <a:lnSpc>
                  <a:spcPts val="1920"/>
                </a:lnSpc>
                <a:buFont typeface="Arial"/>
                <a:buChar char="•"/>
              </a:pPr>
              <a:r>
                <a:rPr lang="en-US" sz="16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 comparar 30 vs. 50 vecinos, se demuestra la estabilidad de t-SNE</a:t>
              </a:r>
            </a:p>
            <a:p>
              <a:pPr algn="l" marL="386080" indent="-193040" lvl="1">
                <a:lnSpc>
                  <a:spcPts val="1920"/>
                </a:lnSpc>
                <a:buFont typeface="Arial"/>
                <a:buChar char="•"/>
              </a:pPr>
              <a:r>
                <a:rPr lang="en-US" sz="16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linealidad confirmada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647147" y="1525497"/>
            <a:ext cx="9891885" cy="4253511"/>
          </a:xfrm>
          <a:custGeom>
            <a:avLst/>
            <a:gdLst/>
            <a:ahLst/>
            <a:cxnLst/>
            <a:rect r="r" b="b" t="t" l="l"/>
            <a:pathLst>
              <a:path h="4253511" w="9891885">
                <a:moveTo>
                  <a:pt x="0" y="0"/>
                </a:moveTo>
                <a:lnTo>
                  <a:pt x="9891885" y="0"/>
                </a:lnTo>
                <a:lnTo>
                  <a:pt x="9891885" y="4253511"/>
                </a:lnTo>
                <a:lnTo>
                  <a:pt x="0" y="4253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647147" y="5931408"/>
            <a:ext cx="9891885" cy="4241146"/>
          </a:xfrm>
          <a:custGeom>
            <a:avLst/>
            <a:gdLst/>
            <a:ahLst/>
            <a:cxnLst/>
            <a:rect r="r" b="b" t="t" l="l"/>
            <a:pathLst>
              <a:path h="4241146" w="9891885">
                <a:moveTo>
                  <a:pt x="0" y="0"/>
                </a:moveTo>
                <a:lnTo>
                  <a:pt x="9891885" y="0"/>
                </a:lnTo>
                <a:lnTo>
                  <a:pt x="9891885" y="4241146"/>
                </a:lnTo>
                <a:lnTo>
                  <a:pt x="0" y="4241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7200" y="329184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Reducción de Dimensionalidad — PCA y t-SNE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Proyecciones 2D y 3D de los datos de enfermedad cardíaca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912265" y="2040856"/>
            <a:ext cx="7693713" cy="7549456"/>
          </a:xfrm>
          <a:custGeom>
            <a:avLst/>
            <a:gdLst/>
            <a:ahLst/>
            <a:cxnLst/>
            <a:rect r="r" b="b" t="t" l="l"/>
            <a:pathLst>
              <a:path h="7549456" w="7693713">
                <a:moveTo>
                  <a:pt x="0" y="0"/>
                </a:moveTo>
                <a:lnTo>
                  <a:pt x="7693713" y="0"/>
                </a:lnTo>
                <a:lnTo>
                  <a:pt x="7693713" y="7549456"/>
                </a:lnTo>
                <a:lnTo>
                  <a:pt x="0" y="75494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71600"/>
            <a:chOff x="0" y="0"/>
            <a:chExt cx="243840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256032"/>
            <a:ext cx="768096" cy="768096"/>
            <a:chOff x="0" y="0"/>
            <a:chExt cx="1024128" cy="10241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776" y="219456"/>
            <a:ext cx="768096" cy="768096"/>
            <a:chOff x="0" y="0"/>
            <a:chExt cx="1024128" cy="1024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182880"/>
            <a:ext cx="14630400" cy="914400"/>
            <a:chOff x="0" y="0"/>
            <a:chExt cx="19507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07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5072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Tabla Comparativa Final — Todos los Modelos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950976"/>
            <a:ext cx="14630400" cy="457200"/>
            <a:chOff x="0" y="0"/>
            <a:chExt cx="195072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507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0AE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★ Mejor modelo global: SVM (kernel=RBF, C=10)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76735" y="2887860"/>
            <a:ext cx="17334529" cy="6370440"/>
          </a:xfrm>
          <a:custGeom>
            <a:avLst/>
            <a:gdLst/>
            <a:ahLst/>
            <a:cxnLst/>
            <a:rect r="r" b="b" t="t" l="l"/>
            <a:pathLst>
              <a:path h="6370440" w="17334529">
                <a:moveTo>
                  <a:pt x="0" y="0"/>
                </a:moveTo>
                <a:lnTo>
                  <a:pt x="17334530" y="0"/>
                </a:lnTo>
                <a:lnTo>
                  <a:pt x="17334530" y="6370440"/>
                </a:lnTo>
                <a:lnTo>
                  <a:pt x="0" y="6370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" cy="10287000"/>
            <a:chOff x="0" y="0"/>
            <a:chExt cx="24384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34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329184"/>
            <a:ext cx="914400" cy="914400"/>
            <a:chOff x="0" y="0"/>
            <a:chExt cx="12192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5920" y="274320"/>
            <a:ext cx="16093440" cy="914400"/>
            <a:chOff x="0" y="0"/>
            <a:chExt cx="214579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Conclusiones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" y="1426464"/>
            <a:ext cx="8595360" cy="2377440"/>
            <a:chOff x="0" y="0"/>
            <a:chExt cx="11460480" cy="3169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60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3263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65760" y="1426464"/>
            <a:ext cx="109728" cy="2377440"/>
            <a:chOff x="0" y="0"/>
            <a:chExt cx="146304" cy="3169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2121408"/>
            <a:ext cx="822960" cy="822960"/>
            <a:chOff x="0" y="0"/>
            <a:chExt cx="1097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0080" y="2084832"/>
            <a:ext cx="822960" cy="822960"/>
            <a:chOff x="0" y="0"/>
            <a:chExt cx="109728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37360" y="1645920"/>
            <a:ext cx="7040880" cy="548640"/>
            <a:chOff x="0" y="0"/>
            <a:chExt cx="93878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3878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E86A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EDA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37360" y="2231136"/>
            <a:ext cx="7040880" cy="1371600"/>
            <a:chOff x="0" y="0"/>
            <a:chExt cx="938784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878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23" r="0" b="-5002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3878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BD5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302 </a:t>
              </a:r>
              <a:r>
                <a:rPr lang="en-US" sz="1800">
                  <a:solidFill>
                    <a:srgbClr val="CBD5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registros, 13 features, sin nulos. Variables más predictivas: cp, thalach, ca, oldpeak, exang.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65760" y="4041648"/>
            <a:ext cx="8595360" cy="2377440"/>
            <a:chOff x="0" y="0"/>
            <a:chExt cx="11460480" cy="3169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60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3263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65760" y="4041648"/>
            <a:ext cx="109728" cy="2377440"/>
            <a:chOff x="0" y="0"/>
            <a:chExt cx="146304" cy="3169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0080" y="4736592"/>
            <a:ext cx="822960" cy="822960"/>
            <a:chOff x="0" y="0"/>
            <a:chExt cx="10972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40080" y="4700016"/>
            <a:ext cx="822960" cy="822960"/>
            <a:chOff x="0" y="0"/>
            <a:chExt cx="10972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37360" y="4261104"/>
            <a:ext cx="7040880" cy="548640"/>
            <a:chOff x="0" y="0"/>
            <a:chExt cx="93878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93878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C0392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Clasificación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37360" y="4846320"/>
            <a:ext cx="7040880" cy="1371600"/>
            <a:chOff x="0" y="0"/>
            <a:chExt cx="9387840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878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23" r="0" b="-5002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3878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BD5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SVM (RBF, C=10) es el mejor modelo: maximiza Recall (53%), crítico en diagnóstico médico para evitar FN.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65760" y="6656832"/>
            <a:ext cx="8595360" cy="2377440"/>
            <a:chOff x="0" y="0"/>
            <a:chExt cx="11460480" cy="3169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460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3263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65760" y="6656832"/>
            <a:ext cx="109728" cy="2377440"/>
            <a:chOff x="0" y="0"/>
            <a:chExt cx="146304" cy="31699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6304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0080" y="7351776"/>
            <a:ext cx="822960" cy="822960"/>
            <a:chOff x="0" y="0"/>
            <a:chExt cx="109728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40080" y="7315200"/>
            <a:ext cx="822960" cy="822960"/>
            <a:chOff x="0" y="0"/>
            <a:chExt cx="109728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37360" y="6876288"/>
            <a:ext cx="7040880" cy="548640"/>
            <a:chOff x="0" y="0"/>
            <a:chExt cx="938784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93878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E44A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Deep Learning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37360" y="7461504"/>
            <a:ext cx="7040880" cy="1371600"/>
            <a:chOff x="0" y="0"/>
            <a:chExt cx="9387840" cy="1828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878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23" r="0" b="-5002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3878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BD5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</a:t>
              </a:r>
              <a:r>
                <a:rPr lang="en-US" sz="1800">
                  <a:solidFill>
                    <a:srgbClr val="CBD5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 pruebas con redes neuronales densas demostraron que una arquitectura simple (DNN1) exhibe mejor capacidad de generalización frente a estructuras sobreparameitrizadas o profundas (DNN2), las cuales tienden a sobreajustar debido a las dimensiones del dataset.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326880" y="1426464"/>
            <a:ext cx="8595360" cy="2377440"/>
            <a:chOff x="0" y="0"/>
            <a:chExt cx="11460480" cy="31699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460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3263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326880" y="1426464"/>
            <a:ext cx="109728" cy="2377440"/>
            <a:chOff x="0" y="0"/>
            <a:chExt cx="146304" cy="31699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6304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01200" y="2121408"/>
            <a:ext cx="822960" cy="822960"/>
            <a:chOff x="0" y="0"/>
            <a:chExt cx="109728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601200" y="2084832"/>
            <a:ext cx="822960" cy="822960"/>
            <a:chOff x="0" y="0"/>
            <a:chExt cx="109728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698480" y="1645920"/>
            <a:ext cx="7040880" cy="548640"/>
            <a:chOff x="0" y="0"/>
            <a:chExt cx="938784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93878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67E22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No Supervisado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698480" y="2231136"/>
            <a:ext cx="7040880" cy="1371600"/>
            <a:chOff x="0" y="0"/>
            <a:chExt cx="9387840" cy="1828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3878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23" r="0" b="-5002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93878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BD5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K-Means (K=2) y Agglomerative detectan estructura. DBSCAN identifica outliers clínicos relevantes.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26880" y="4041648"/>
            <a:ext cx="8595360" cy="2377440"/>
            <a:chOff x="0" y="0"/>
            <a:chExt cx="11460480" cy="31699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460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32630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326880" y="4041648"/>
            <a:ext cx="109728" cy="2377440"/>
            <a:chOff x="0" y="0"/>
            <a:chExt cx="146304" cy="31699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6304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01200" y="4736592"/>
            <a:ext cx="822960" cy="822960"/>
            <a:chOff x="0" y="0"/>
            <a:chExt cx="109728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601200" y="4700016"/>
            <a:ext cx="822960" cy="822960"/>
            <a:chOff x="0" y="0"/>
            <a:chExt cx="1097280" cy="1097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0972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698480" y="4261104"/>
            <a:ext cx="7040880" cy="548640"/>
            <a:chOff x="0" y="0"/>
            <a:chExt cx="938784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93878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7AE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No Lineabilidad Demostrada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698480" y="4846320"/>
            <a:ext cx="7040880" cy="1371600"/>
            <a:chOff x="0" y="0"/>
            <a:chExt cx="9387840" cy="1828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3878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23" r="0" b="-5002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3878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BD5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  <a:r>
                <a:rPr lang="en-US" sz="1800">
                  <a:solidFill>
                    <a:srgbClr val="CBD5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PCA cubren &gt;90% de varianza. t-SNE muestra separabilidad no lineal entre clases, confirma límites del ML lineal.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6304"/>
            <a:chOff x="0" y="0"/>
            <a:chExt cx="24384000" cy="1950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40696"/>
            <a:ext cx="18288000" cy="146304"/>
            <a:chOff x="0" y="0"/>
            <a:chExt cx="24384000" cy="195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26660" y="-57150"/>
            <a:ext cx="4389120" cy="4389120"/>
            <a:chOff x="0" y="0"/>
            <a:chExt cx="5852160" cy="5852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57200"/>
              <a:ext cx="5852160" cy="6309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0"/>
                </a:lnSpc>
              </a:pPr>
              <a:r>
                <a:rPr lang="en-US" sz="22000">
                  <a:solidFill>
                    <a:srgbClr val="C039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♥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43200" y="2724912"/>
            <a:ext cx="12801600" cy="1828800"/>
            <a:chOff x="0" y="0"/>
            <a:chExt cx="17068800" cy="2438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7068800" cy="2438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¡Gracias!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43200" y="4389120"/>
            <a:ext cx="12801600" cy="731520"/>
            <a:chOff x="0" y="0"/>
            <a:chExt cx="170688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70688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E74C3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Heart Disease UCI — Tercer Parcial IA1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57600" y="5486400"/>
            <a:ext cx="10972800" cy="1188720"/>
            <a:chOff x="0" y="0"/>
            <a:chExt cx="14630400" cy="1584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463040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Universidad Industrial de Santander · Grupo E1 · 2026-1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Profesora: Alejandra Moreno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72000" y="7132320"/>
            <a:ext cx="9144000" cy="1371600"/>
            <a:chOff x="0" y="0"/>
            <a:chExt cx="1219200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A2E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572000" y="7223760"/>
            <a:ext cx="9144000" cy="512064"/>
            <a:chOff x="0" y="0"/>
            <a:chExt cx="121920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21920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0CDF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🔗 Enlace al Notebook Google Colab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72000" y="7790688"/>
            <a:ext cx="9144000" cy="689149"/>
            <a:chOff x="0" y="0"/>
            <a:chExt cx="12192000" cy="9188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0" cy="918865"/>
            </a:xfrm>
            <a:custGeom>
              <a:avLst/>
              <a:gdLst/>
              <a:ahLst/>
              <a:cxnLst/>
              <a:rect r="r" b="b" t="t" l="l"/>
              <a:pathLst>
                <a:path h="91886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18865"/>
                  </a:lnTo>
                  <a:lnTo>
                    <a:pt x="0" y="918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86" r="0" b="-19569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192000" cy="95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71809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https://colab.research.google.com/drive/1h6ClyUJ6AfMtLT29tU24q0QT7RbgtfD4#scrollTo=qYkngPKihjM-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8640" y="8961120"/>
            <a:ext cx="1489643" cy="914400"/>
            <a:chOff x="0" y="0"/>
            <a:chExt cx="1986191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86153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53">
                  <a:moveTo>
                    <a:pt x="0" y="0"/>
                  </a:moveTo>
                  <a:lnTo>
                    <a:pt x="1986153" y="0"/>
                  </a:lnTo>
                  <a:lnTo>
                    <a:pt x="1986153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8640" y="8961120"/>
            <a:ext cx="1489643" cy="914400"/>
            <a:chOff x="0" y="0"/>
            <a:chExt cx="1986191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8618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87">
                  <a:moveTo>
                    <a:pt x="0" y="0"/>
                  </a:moveTo>
                  <a:lnTo>
                    <a:pt x="1986187" y="0"/>
                  </a:lnTo>
                  <a:lnTo>
                    <a:pt x="198618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757" t="0" r="-2875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986191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GNB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111435" y="8961120"/>
            <a:ext cx="1489643" cy="914400"/>
            <a:chOff x="0" y="0"/>
            <a:chExt cx="1986191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86153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53">
                  <a:moveTo>
                    <a:pt x="0" y="0"/>
                  </a:moveTo>
                  <a:lnTo>
                    <a:pt x="1986153" y="0"/>
                  </a:lnTo>
                  <a:lnTo>
                    <a:pt x="1986153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111435" y="8961120"/>
            <a:ext cx="1489643" cy="914400"/>
            <a:chOff x="0" y="0"/>
            <a:chExt cx="1986191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8618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87">
                  <a:moveTo>
                    <a:pt x="0" y="0"/>
                  </a:moveTo>
                  <a:lnTo>
                    <a:pt x="1986187" y="0"/>
                  </a:lnTo>
                  <a:lnTo>
                    <a:pt x="198618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757" t="0" r="-2875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986191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Decision Tree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674231" y="8961120"/>
            <a:ext cx="1489643" cy="914400"/>
            <a:chOff x="0" y="0"/>
            <a:chExt cx="1986191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86153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53">
                  <a:moveTo>
                    <a:pt x="0" y="0"/>
                  </a:moveTo>
                  <a:lnTo>
                    <a:pt x="1986153" y="0"/>
                  </a:lnTo>
                  <a:lnTo>
                    <a:pt x="1986153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674231" y="8961120"/>
            <a:ext cx="1489643" cy="914400"/>
            <a:chOff x="0" y="0"/>
            <a:chExt cx="1986191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8618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87">
                  <a:moveTo>
                    <a:pt x="0" y="0"/>
                  </a:moveTo>
                  <a:lnTo>
                    <a:pt x="1986187" y="0"/>
                  </a:lnTo>
                  <a:lnTo>
                    <a:pt x="198618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757" t="0" r="-2875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986191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Random Forest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237016" y="8961120"/>
            <a:ext cx="1489643" cy="914400"/>
            <a:chOff x="0" y="0"/>
            <a:chExt cx="1986191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86153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53">
                  <a:moveTo>
                    <a:pt x="0" y="0"/>
                  </a:moveTo>
                  <a:lnTo>
                    <a:pt x="1986153" y="0"/>
                  </a:lnTo>
                  <a:lnTo>
                    <a:pt x="1986153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237016" y="8961120"/>
            <a:ext cx="1489643" cy="914400"/>
            <a:chOff x="0" y="0"/>
            <a:chExt cx="1986191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8618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87">
                  <a:moveTo>
                    <a:pt x="0" y="0"/>
                  </a:moveTo>
                  <a:lnTo>
                    <a:pt x="1986187" y="0"/>
                  </a:lnTo>
                  <a:lnTo>
                    <a:pt x="198618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757" t="0" r="-2875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986191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SVM ★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799812" y="8961120"/>
            <a:ext cx="1489643" cy="914400"/>
            <a:chOff x="0" y="0"/>
            <a:chExt cx="1986191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86153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53">
                  <a:moveTo>
                    <a:pt x="0" y="0"/>
                  </a:moveTo>
                  <a:lnTo>
                    <a:pt x="1986153" y="0"/>
                  </a:lnTo>
                  <a:lnTo>
                    <a:pt x="1986153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799812" y="8961120"/>
            <a:ext cx="1489643" cy="914400"/>
            <a:chOff x="0" y="0"/>
            <a:chExt cx="1986191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8618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87">
                  <a:moveTo>
                    <a:pt x="0" y="0"/>
                  </a:moveTo>
                  <a:lnTo>
                    <a:pt x="1986187" y="0"/>
                  </a:lnTo>
                  <a:lnTo>
                    <a:pt x="198618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757" t="0" r="-2875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986191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DNN1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362607" y="8961120"/>
            <a:ext cx="1489643" cy="914400"/>
            <a:chOff x="0" y="0"/>
            <a:chExt cx="1986191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86153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53">
                  <a:moveTo>
                    <a:pt x="0" y="0"/>
                  </a:moveTo>
                  <a:lnTo>
                    <a:pt x="1986153" y="0"/>
                  </a:lnTo>
                  <a:lnTo>
                    <a:pt x="1986153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362607" y="8961120"/>
            <a:ext cx="1489643" cy="914400"/>
            <a:chOff x="0" y="0"/>
            <a:chExt cx="1986191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8618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87">
                  <a:moveTo>
                    <a:pt x="0" y="0"/>
                  </a:moveTo>
                  <a:lnTo>
                    <a:pt x="1986187" y="0"/>
                  </a:lnTo>
                  <a:lnTo>
                    <a:pt x="198618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757" t="0" r="-2875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986191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DNN2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925393" y="8961120"/>
            <a:ext cx="1489643" cy="914400"/>
            <a:chOff x="0" y="0"/>
            <a:chExt cx="1986191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986153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53">
                  <a:moveTo>
                    <a:pt x="0" y="0"/>
                  </a:moveTo>
                  <a:lnTo>
                    <a:pt x="1986153" y="0"/>
                  </a:lnTo>
                  <a:lnTo>
                    <a:pt x="1986153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E86A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925393" y="8961120"/>
            <a:ext cx="1489643" cy="914400"/>
            <a:chOff x="0" y="0"/>
            <a:chExt cx="1986191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8618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87">
                  <a:moveTo>
                    <a:pt x="0" y="0"/>
                  </a:moveTo>
                  <a:lnTo>
                    <a:pt x="1986187" y="0"/>
                  </a:lnTo>
                  <a:lnTo>
                    <a:pt x="198618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757" t="0" r="-2875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986191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K-Means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488188" y="8961120"/>
            <a:ext cx="1489643" cy="914400"/>
            <a:chOff x="0" y="0"/>
            <a:chExt cx="1986191" cy="1219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86153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53">
                  <a:moveTo>
                    <a:pt x="0" y="0"/>
                  </a:moveTo>
                  <a:lnTo>
                    <a:pt x="1986153" y="0"/>
                  </a:lnTo>
                  <a:lnTo>
                    <a:pt x="1986153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67E2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488188" y="8961120"/>
            <a:ext cx="1489643" cy="914400"/>
            <a:chOff x="0" y="0"/>
            <a:chExt cx="1986191" cy="1219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8618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87">
                  <a:moveTo>
                    <a:pt x="0" y="0"/>
                  </a:moveTo>
                  <a:lnTo>
                    <a:pt x="1986187" y="0"/>
                  </a:lnTo>
                  <a:lnTo>
                    <a:pt x="198618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757" t="0" r="-28757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1986191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DBSCAN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050984" y="8961120"/>
            <a:ext cx="1489643" cy="914400"/>
            <a:chOff x="0" y="0"/>
            <a:chExt cx="1986191" cy="1219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86153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53">
                  <a:moveTo>
                    <a:pt x="0" y="0"/>
                  </a:moveTo>
                  <a:lnTo>
                    <a:pt x="1986153" y="0"/>
                  </a:lnTo>
                  <a:lnTo>
                    <a:pt x="1986153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050984" y="8961120"/>
            <a:ext cx="1489643" cy="914400"/>
            <a:chOff x="0" y="0"/>
            <a:chExt cx="1986191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8618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87">
                  <a:moveTo>
                    <a:pt x="0" y="0"/>
                  </a:moveTo>
                  <a:lnTo>
                    <a:pt x="1986187" y="0"/>
                  </a:lnTo>
                  <a:lnTo>
                    <a:pt x="198618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757" t="0" r="-28757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986191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Agglomerative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613769" y="8961120"/>
            <a:ext cx="1489643" cy="914400"/>
            <a:chOff x="0" y="0"/>
            <a:chExt cx="1986191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86153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53">
                  <a:moveTo>
                    <a:pt x="0" y="0"/>
                  </a:moveTo>
                  <a:lnTo>
                    <a:pt x="1986153" y="0"/>
                  </a:lnTo>
                  <a:lnTo>
                    <a:pt x="1986153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4613769" y="8961120"/>
            <a:ext cx="1489643" cy="914400"/>
            <a:chOff x="0" y="0"/>
            <a:chExt cx="1986191" cy="1219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98618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87">
                  <a:moveTo>
                    <a:pt x="0" y="0"/>
                  </a:moveTo>
                  <a:lnTo>
                    <a:pt x="1986187" y="0"/>
                  </a:lnTo>
                  <a:lnTo>
                    <a:pt x="198618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757" t="0" r="-28757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1986191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PCA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176565" y="8961120"/>
            <a:ext cx="1489643" cy="914400"/>
            <a:chOff x="0" y="0"/>
            <a:chExt cx="1986191" cy="1219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986153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53">
                  <a:moveTo>
                    <a:pt x="0" y="0"/>
                  </a:moveTo>
                  <a:lnTo>
                    <a:pt x="1986153" y="0"/>
                  </a:lnTo>
                  <a:lnTo>
                    <a:pt x="1986153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8E44AD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6176565" y="8961120"/>
            <a:ext cx="1489643" cy="914400"/>
            <a:chOff x="0" y="0"/>
            <a:chExt cx="1986191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986187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86187">
                  <a:moveTo>
                    <a:pt x="0" y="0"/>
                  </a:moveTo>
                  <a:lnTo>
                    <a:pt x="1986187" y="0"/>
                  </a:lnTo>
                  <a:lnTo>
                    <a:pt x="198618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757" t="0" r="-28757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986191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t-SNE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DAHKoRLiBlM</dc:identifier>
  <dcterms:modified xsi:type="dcterms:W3CDTF">2011-08-01T06:04:30Z</dcterms:modified>
  <cp:revision>1</cp:revision>
  <dc:title>Heart_Disease_IA1_Presentacion.pptx</dc:title>
</cp:coreProperties>
</file>